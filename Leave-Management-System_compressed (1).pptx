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6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9144000" cy="5143500" type="screen16x9"/>
  <p:notesSz cx="5143500" cy="9144000"/>
  <p:embeddedFontLst>
    <p:embeddedFont>
      <p:font typeface="Bitter" panose="020B0604020202020204" charset="0"/>
      <p:regular r:id="rId17"/>
    </p:embeddedFont>
    <p:embeddedFont>
      <p:font typeface="Bitter Bold" panose="020B0604020202020204" charset="0"/>
      <p:regular r:id="rId18"/>
    </p:embeddedFont>
    <p:embeddedFont>
      <p:font typeface="Outfit Bold" panose="020B0604020202020204" charset="0"/>
      <p:regular r:id="rId19"/>
    </p:embeddedFont>
    <p:embeddedFont>
      <p:font typeface="Outfit Light" panose="020B0604020202020204" charset="0"/>
      <p:regular r:id="rId20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09" d="100"/>
          <a:sy n="109" d="100"/>
        </p:scale>
        <p:origin x="706" y="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2.fntdata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1.fntdata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font" Target="fonts/font4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font" Target="fonts/font3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90148550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B101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C1D1F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sv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svg"/><Relationship Id="rId3" Type="http://schemas.openxmlformats.org/officeDocument/2006/relationships/image" Target="../media/image6.svg"/><Relationship Id="rId7" Type="http://schemas.openxmlformats.org/officeDocument/2006/relationships/image" Target="../media/image10.sv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.svg"/><Relationship Id="rId5" Type="http://schemas.openxmlformats.org/officeDocument/2006/relationships/image" Target="../media/image8.svg"/><Relationship Id="rId4" Type="http://schemas.openxmlformats.org/officeDocument/2006/relationships/image" Target="../media/image7.sv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svg"/><Relationship Id="rId3" Type="http://schemas.openxmlformats.org/officeDocument/2006/relationships/image" Target="../media/image12.svg"/><Relationship Id="rId7" Type="http://schemas.openxmlformats.org/officeDocument/2006/relationships/image" Target="../media/image16.sv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5.svg"/><Relationship Id="rId5" Type="http://schemas.openxmlformats.org/officeDocument/2006/relationships/image" Target="../media/image14.svg"/><Relationship Id="rId4" Type="http://schemas.openxmlformats.org/officeDocument/2006/relationships/image" Target="../media/image13.svg"/><Relationship Id="rId9" Type="http://schemas.openxmlformats.org/officeDocument/2006/relationships/image" Target="../media/image18.sv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25.svg"/><Relationship Id="rId3" Type="http://schemas.openxmlformats.org/officeDocument/2006/relationships/image" Target="../media/image20.svg"/><Relationship Id="rId7" Type="http://schemas.openxmlformats.org/officeDocument/2006/relationships/image" Target="../media/image24.sv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3.svg"/><Relationship Id="rId5" Type="http://schemas.openxmlformats.org/officeDocument/2006/relationships/image" Target="../media/image22.svg"/><Relationship Id="rId4" Type="http://schemas.openxmlformats.org/officeDocument/2006/relationships/image" Target="../media/image21.sv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sv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9.svg"/><Relationship Id="rId4" Type="http://schemas.openxmlformats.org/officeDocument/2006/relationships/image" Target="../media/image28.sv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7" Type="http://schemas.openxmlformats.org/officeDocument/2006/relationships/image" Target="../media/image10.sv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3.svg"/><Relationship Id="rId5" Type="http://schemas.openxmlformats.org/officeDocument/2006/relationships/image" Target="../media/image32.svg"/><Relationship Id="rId4" Type="http://schemas.openxmlformats.org/officeDocument/2006/relationships/image" Target="../media/image31.svg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39.svg"/><Relationship Id="rId3" Type="http://schemas.openxmlformats.org/officeDocument/2006/relationships/image" Target="../media/image34.svg"/><Relationship Id="rId7" Type="http://schemas.openxmlformats.org/officeDocument/2006/relationships/image" Target="../media/image38.sv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7.svg"/><Relationship Id="rId5" Type="http://schemas.openxmlformats.org/officeDocument/2006/relationships/image" Target="../media/image36.svg"/><Relationship Id="rId4" Type="http://schemas.openxmlformats.org/officeDocument/2006/relationships/image" Target="../media/image35.sv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43550" y="0"/>
            <a:ext cx="360045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96119" y="1823963"/>
            <a:ext cx="4937373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750" b="1" dirty="0">
                <a:solidFill>
                  <a:srgbClr val="E1E5CD"/>
                </a:solidFill>
                <a:latin typeface="Outfit Bold" pitchFamily="34" charset="0"/>
                <a:ea typeface="Outfit Bold" pitchFamily="34" charset="-122"/>
                <a:cs typeface="Outfit Bold" pitchFamily="34" charset="-120"/>
              </a:rPr>
              <a:t>Leave Management System</a:t>
            </a:r>
            <a:endParaRPr lang="en-US" sz="2750" dirty="0"/>
          </a:p>
        </p:txBody>
      </p:sp>
      <p:sp>
        <p:nvSpPr>
          <p:cNvPr id="4" name="Text 1"/>
          <p:cNvSpPr/>
          <p:nvPr/>
        </p:nvSpPr>
        <p:spPr>
          <a:xfrm>
            <a:off x="496119" y="2479551"/>
            <a:ext cx="4722763" cy="839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33000"/>
              </a:lnSpc>
              <a:spcAft>
                <a:spcPts val="1250"/>
              </a:spcAft>
              <a:buNone/>
            </a:pPr>
            <a:r>
              <a:rPr lang="en-US" sz="1100" dirty="0">
                <a:solidFill>
                  <a:srgbClr val="C2C4B5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A Spring Boot-Based Employee Leave Management Application</a:t>
            </a:r>
            <a:endParaRPr lang="en-US" sz="110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100" b="1" dirty="0">
                <a:solidFill>
                  <a:srgbClr val="C2C4B5"/>
                </a:solidFill>
                <a:latin typeface="Bitter Bold" pitchFamily="34" charset="0"/>
                <a:ea typeface="Bitter Bold" pitchFamily="34" charset="-122"/>
                <a:cs typeface="Bitter Bold" pitchFamily="34" charset="-120"/>
              </a:rPr>
              <a:t>Presented By:</a:t>
            </a:r>
            <a:r>
              <a:rPr lang="en-US" sz="1100" dirty="0">
                <a:solidFill>
                  <a:srgbClr val="C2C4B5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 G.Sudheer  |  </a:t>
            </a:r>
            <a:r>
              <a:rPr lang="en-US" sz="1100" b="1" dirty="0">
                <a:solidFill>
                  <a:srgbClr val="C2C4B5"/>
                </a:solidFill>
                <a:latin typeface="Bitter Bold" pitchFamily="34" charset="0"/>
                <a:ea typeface="Bitter Bold" pitchFamily="34" charset="-122"/>
                <a:cs typeface="Bitter Bold" pitchFamily="34" charset="-120"/>
              </a:rPr>
              <a:t>Reg No:</a:t>
            </a:r>
            <a:r>
              <a:rPr lang="en-US" sz="1100" dirty="0">
                <a:solidFill>
                  <a:srgbClr val="C2C4B5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 23AK1A30A3  |  </a:t>
            </a:r>
          </a:p>
          <a:p>
            <a:pPr marL="0" indent="0" algn="l">
              <a:lnSpc>
                <a:spcPct val="133000"/>
              </a:lnSpc>
              <a:buNone/>
            </a:pPr>
            <a:r>
              <a:rPr lang="en-US" sz="1100" b="1" dirty="0">
                <a:solidFill>
                  <a:srgbClr val="C2C4B5"/>
                </a:solidFill>
                <a:latin typeface="Bitter Bold" pitchFamily="34" charset="0"/>
                <a:ea typeface="Bitter Bold" pitchFamily="34" charset="-122"/>
                <a:cs typeface="Bitter Bold" pitchFamily="34" charset="-120"/>
              </a:rPr>
              <a:t>Dept:</a:t>
            </a:r>
            <a:r>
              <a:rPr lang="en-US" sz="1100" dirty="0">
                <a:solidFill>
                  <a:srgbClr val="C2C4B5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 AI&amp;DS  |  Annamacharya Institute of Technology and Science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43550" y="0"/>
            <a:ext cx="3600450" cy="5143872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96119" y="389855"/>
            <a:ext cx="3392165" cy="36686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300" b="1" dirty="0">
                <a:solidFill>
                  <a:srgbClr val="E1E5CD"/>
                </a:solidFill>
                <a:latin typeface="Outfit Bold" pitchFamily="34" charset="0"/>
                <a:ea typeface="Outfit Bold" pitchFamily="34" charset="-122"/>
                <a:cs typeface="Outfit Bold" pitchFamily="34" charset="-120"/>
              </a:rPr>
              <a:t>Introduction</a:t>
            </a:r>
            <a:endParaRPr lang="en-US" sz="2300" dirty="0"/>
          </a:p>
        </p:txBody>
      </p:sp>
      <p:sp>
        <p:nvSpPr>
          <p:cNvPr id="4" name="Text 1"/>
          <p:cNvSpPr/>
          <p:nvPr/>
        </p:nvSpPr>
        <p:spPr>
          <a:xfrm>
            <a:off x="496119" y="902494"/>
            <a:ext cx="4722763" cy="85836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2000"/>
              </a:lnSpc>
              <a:buNone/>
            </a:pPr>
            <a:r>
              <a:rPr lang="en-US" sz="900" dirty="0">
                <a:solidFill>
                  <a:srgbClr val="C2C4B5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The </a:t>
            </a:r>
            <a:r>
              <a:rPr lang="en-US" sz="900" b="1" dirty="0">
                <a:solidFill>
                  <a:srgbClr val="C2C4B5"/>
                </a:solidFill>
                <a:latin typeface="Bitter Bold" pitchFamily="34" charset="0"/>
                <a:ea typeface="Bitter Bold" pitchFamily="34" charset="-122"/>
                <a:cs typeface="Bitter Bold" pitchFamily="34" charset="-120"/>
              </a:rPr>
              <a:t>Leave Management System</a:t>
            </a:r>
            <a:r>
              <a:rPr lang="en-US" sz="900" dirty="0">
                <a:solidFill>
                  <a:srgbClr val="C2C4B5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 is a web-based application designed to streamline how employees apply for leave and how administrators approve or reject requests. By replacing manual paperwork with a digital workflow, the system improves efficiency, reduces errors, and ensures that all leave records are securely maintained and easily accessible.</a:t>
            </a:r>
            <a:endParaRPr lang="en-US" sz="900" dirty="0"/>
          </a:p>
        </p:txBody>
      </p:sp>
      <p:sp>
        <p:nvSpPr>
          <p:cNvPr id="5" name="Shape 2"/>
          <p:cNvSpPr/>
          <p:nvPr/>
        </p:nvSpPr>
        <p:spPr>
          <a:xfrm>
            <a:off x="496119" y="1870174"/>
            <a:ext cx="4722763" cy="648072"/>
          </a:xfrm>
          <a:prstGeom prst="roundRect">
            <a:avLst>
              <a:gd name="adj" fmla="val 2717"/>
            </a:avLst>
          </a:prstGeom>
          <a:solidFill>
            <a:srgbClr val="3B3C3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3"/>
          <p:cNvSpPr/>
          <p:nvPr/>
        </p:nvSpPr>
        <p:spPr>
          <a:xfrm>
            <a:off x="613470" y="1987525"/>
            <a:ext cx="1467445" cy="1834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50" b="1" dirty="0">
                <a:solidFill>
                  <a:srgbClr val="C2C4B5"/>
                </a:solidFill>
                <a:latin typeface="Outfit Bold" pitchFamily="34" charset="0"/>
                <a:ea typeface="Outfit Bold" pitchFamily="34" charset="-122"/>
                <a:cs typeface="Outfit Bold" pitchFamily="34" charset="-120"/>
              </a:rPr>
              <a:t>Web-Based</a:t>
            </a:r>
            <a:endParaRPr lang="en-US" sz="1150" dirty="0"/>
          </a:p>
        </p:txBody>
      </p:sp>
      <p:sp>
        <p:nvSpPr>
          <p:cNvPr id="7" name="Text 4"/>
          <p:cNvSpPr/>
          <p:nvPr/>
        </p:nvSpPr>
        <p:spPr>
          <a:xfrm>
            <a:off x="613470" y="2229222"/>
            <a:ext cx="4488061" cy="1716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2000"/>
              </a:lnSpc>
              <a:buNone/>
            </a:pPr>
            <a:r>
              <a:rPr lang="en-US" sz="900" dirty="0">
                <a:solidFill>
                  <a:srgbClr val="C2C4B5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Accessible from any browser with secure login</a:t>
            </a:r>
            <a:endParaRPr lang="en-US" sz="900" dirty="0"/>
          </a:p>
        </p:txBody>
      </p:sp>
      <p:sp>
        <p:nvSpPr>
          <p:cNvPr id="8" name="Shape 5"/>
          <p:cNvSpPr/>
          <p:nvPr/>
        </p:nvSpPr>
        <p:spPr>
          <a:xfrm>
            <a:off x="496119" y="2615431"/>
            <a:ext cx="4722763" cy="648072"/>
          </a:xfrm>
          <a:prstGeom prst="roundRect">
            <a:avLst>
              <a:gd name="adj" fmla="val 2717"/>
            </a:avLst>
          </a:prstGeom>
          <a:solidFill>
            <a:srgbClr val="3B3C3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6"/>
          <p:cNvSpPr/>
          <p:nvPr/>
        </p:nvSpPr>
        <p:spPr>
          <a:xfrm>
            <a:off x="613470" y="2732782"/>
            <a:ext cx="1467445" cy="1834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50" b="1" dirty="0">
                <a:solidFill>
                  <a:srgbClr val="C2C4B5"/>
                </a:solidFill>
                <a:latin typeface="Outfit Bold" pitchFamily="34" charset="0"/>
                <a:ea typeface="Outfit Bold" pitchFamily="34" charset="-122"/>
                <a:cs typeface="Outfit Bold" pitchFamily="34" charset="-120"/>
              </a:rPr>
              <a:t>Automated</a:t>
            </a:r>
            <a:endParaRPr lang="en-US" sz="1150" dirty="0"/>
          </a:p>
        </p:txBody>
      </p:sp>
      <p:sp>
        <p:nvSpPr>
          <p:cNvPr id="10" name="Text 7"/>
          <p:cNvSpPr/>
          <p:nvPr/>
        </p:nvSpPr>
        <p:spPr>
          <a:xfrm>
            <a:off x="613470" y="2974479"/>
            <a:ext cx="4488061" cy="1716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2000"/>
              </a:lnSpc>
              <a:buNone/>
            </a:pPr>
            <a:r>
              <a:rPr lang="en-US" sz="900" dirty="0">
                <a:solidFill>
                  <a:srgbClr val="C2C4B5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Digital leave application and approval process</a:t>
            </a:r>
            <a:endParaRPr lang="en-US" sz="900" dirty="0"/>
          </a:p>
        </p:txBody>
      </p:sp>
      <p:sp>
        <p:nvSpPr>
          <p:cNvPr id="11" name="Shape 8"/>
          <p:cNvSpPr/>
          <p:nvPr/>
        </p:nvSpPr>
        <p:spPr>
          <a:xfrm>
            <a:off x="496119" y="3360688"/>
            <a:ext cx="4722763" cy="648072"/>
          </a:xfrm>
          <a:prstGeom prst="roundRect">
            <a:avLst>
              <a:gd name="adj" fmla="val 2717"/>
            </a:avLst>
          </a:prstGeom>
          <a:solidFill>
            <a:srgbClr val="3B3C3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9"/>
          <p:cNvSpPr/>
          <p:nvPr/>
        </p:nvSpPr>
        <p:spPr>
          <a:xfrm>
            <a:off x="613470" y="3478039"/>
            <a:ext cx="1467445" cy="1834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50" b="1" dirty="0">
                <a:solidFill>
                  <a:srgbClr val="C2C4B5"/>
                </a:solidFill>
                <a:latin typeface="Outfit Bold" pitchFamily="34" charset="0"/>
                <a:ea typeface="Outfit Bold" pitchFamily="34" charset="-122"/>
                <a:cs typeface="Outfit Bold" pitchFamily="34" charset="-120"/>
              </a:rPr>
              <a:t>Efficient</a:t>
            </a:r>
            <a:endParaRPr lang="en-US" sz="1150" dirty="0"/>
          </a:p>
        </p:txBody>
      </p:sp>
      <p:sp>
        <p:nvSpPr>
          <p:cNvPr id="13" name="Text 10"/>
          <p:cNvSpPr/>
          <p:nvPr/>
        </p:nvSpPr>
        <p:spPr>
          <a:xfrm>
            <a:off x="613470" y="3719736"/>
            <a:ext cx="4488061" cy="1716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2000"/>
              </a:lnSpc>
              <a:buNone/>
            </a:pPr>
            <a:r>
              <a:rPr lang="en-US" sz="900" dirty="0">
                <a:solidFill>
                  <a:srgbClr val="C2C4B5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Minimises paperwork and manual effort</a:t>
            </a:r>
            <a:endParaRPr lang="en-US" sz="900" dirty="0"/>
          </a:p>
        </p:txBody>
      </p:sp>
      <p:sp>
        <p:nvSpPr>
          <p:cNvPr id="14" name="Shape 11"/>
          <p:cNvSpPr/>
          <p:nvPr/>
        </p:nvSpPr>
        <p:spPr>
          <a:xfrm>
            <a:off x="496119" y="4105945"/>
            <a:ext cx="4722763" cy="648072"/>
          </a:xfrm>
          <a:prstGeom prst="roundRect">
            <a:avLst>
              <a:gd name="adj" fmla="val 2717"/>
            </a:avLst>
          </a:prstGeom>
          <a:solidFill>
            <a:srgbClr val="3B3C3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2"/>
          <p:cNvSpPr/>
          <p:nvPr/>
        </p:nvSpPr>
        <p:spPr>
          <a:xfrm>
            <a:off x="613470" y="4223296"/>
            <a:ext cx="1467445" cy="1834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50" b="1" dirty="0">
                <a:solidFill>
                  <a:srgbClr val="C2C4B5"/>
                </a:solidFill>
                <a:latin typeface="Outfit Bold" pitchFamily="34" charset="0"/>
                <a:ea typeface="Outfit Bold" pitchFamily="34" charset="-122"/>
                <a:cs typeface="Outfit Bold" pitchFamily="34" charset="-120"/>
              </a:rPr>
              <a:t>Secure</a:t>
            </a:r>
            <a:endParaRPr lang="en-US" sz="1150" dirty="0"/>
          </a:p>
        </p:txBody>
      </p:sp>
      <p:sp>
        <p:nvSpPr>
          <p:cNvPr id="16" name="Text 13"/>
          <p:cNvSpPr/>
          <p:nvPr/>
        </p:nvSpPr>
        <p:spPr>
          <a:xfrm>
            <a:off x="613470" y="4464993"/>
            <a:ext cx="4488061" cy="1716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2000"/>
              </a:lnSpc>
              <a:buNone/>
            </a:pPr>
            <a:r>
              <a:rPr lang="en-US" sz="900" dirty="0">
                <a:solidFill>
                  <a:srgbClr val="C2C4B5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Role-based access for employees and admins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389855"/>
            <a:ext cx="22292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E1E5CD"/>
                </a:solidFill>
                <a:latin typeface="Outfit Bold" pitchFamily="34" charset="0"/>
                <a:ea typeface="Outfit Bold" pitchFamily="34" charset="-122"/>
                <a:cs typeface="Outfit Bold" pitchFamily="34" charset="-120"/>
              </a:rPr>
              <a:t>Project Objectives</a:t>
            </a:r>
            <a:endParaRPr lang="en-US" sz="135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6119" y="704255"/>
            <a:ext cx="5238080" cy="296822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911900" y="2103313"/>
            <a:ext cx="2740670" cy="17011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550" dirty="0">
                <a:solidFill>
                  <a:srgbClr val="C2C4B5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The system is built around five core objectives that address common challenges in manual leave management:</a:t>
            </a:r>
            <a:endParaRPr lang="en-US" sz="550" dirty="0"/>
          </a:p>
        </p:txBody>
      </p:sp>
      <p:pic>
        <p:nvPicPr>
          <p:cNvPr id="5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22684" y="3754301"/>
            <a:ext cx="106263" cy="106263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726430" y="3752106"/>
            <a:ext cx="1129085" cy="1107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650" b="1" dirty="0">
                <a:solidFill>
                  <a:srgbClr val="C2C4B5"/>
                </a:solidFill>
                <a:latin typeface="Outfit Bold" pitchFamily="34" charset="0"/>
                <a:ea typeface="Outfit Bold" pitchFamily="34" charset="-122"/>
                <a:cs typeface="Outfit Bold" pitchFamily="34" charset="-120"/>
              </a:rPr>
              <a:t>Automate Leave Processing</a:t>
            </a:r>
            <a:endParaRPr lang="en-US" sz="650" dirty="0"/>
          </a:p>
        </p:txBody>
      </p:sp>
      <p:sp>
        <p:nvSpPr>
          <p:cNvPr id="7" name="Text 3"/>
          <p:cNvSpPr/>
          <p:nvPr/>
        </p:nvSpPr>
        <p:spPr>
          <a:xfrm>
            <a:off x="726430" y="3884042"/>
            <a:ext cx="7921451" cy="850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550" dirty="0">
                <a:solidFill>
                  <a:srgbClr val="C2C4B5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Eliminate manual handling of leave requests</a:t>
            </a:r>
            <a:endParaRPr lang="en-US" sz="550" dirty="0"/>
          </a:p>
        </p:txBody>
      </p:sp>
      <p:pic>
        <p:nvPicPr>
          <p:cNvPr id="8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22684" y="4042135"/>
            <a:ext cx="106263" cy="106263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726430" y="4039939"/>
            <a:ext cx="1090761" cy="1107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650" b="1" dirty="0">
                <a:solidFill>
                  <a:srgbClr val="C2C4B5"/>
                </a:solidFill>
                <a:latin typeface="Outfit Bold" pitchFamily="34" charset="0"/>
                <a:ea typeface="Outfit Bold" pitchFamily="34" charset="-122"/>
                <a:cs typeface="Outfit Bold" pitchFamily="34" charset="-120"/>
              </a:rPr>
              <a:t>Maintain Accurate Records</a:t>
            </a:r>
            <a:endParaRPr lang="en-US" sz="650" dirty="0"/>
          </a:p>
        </p:txBody>
      </p:sp>
      <p:sp>
        <p:nvSpPr>
          <p:cNvPr id="10" name="Text 5"/>
          <p:cNvSpPr/>
          <p:nvPr/>
        </p:nvSpPr>
        <p:spPr>
          <a:xfrm>
            <a:off x="726430" y="4171876"/>
            <a:ext cx="7921451" cy="850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550" dirty="0">
                <a:solidFill>
                  <a:srgbClr val="C2C4B5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Centralised storage of all employee leave history</a:t>
            </a:r>
            <a:endParaRPr lang="en-US" sz="550" dirty="0"/>
          </a:p>
        </p:txBody>
      </p:sp>
      <p:pic>
        <p:nvPicPr>
          <p:cNvPr id="11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22684" y="4329968"/>
            <a:ext cx="106263" cy="106263"/>
          </a:xfrm>
          <a:prstGeom prst="rect">
            <a:avLst/>
          </a:prstGeom>
        </p:spPr>
      </p:pic>
      <p:sp>
        <p:nvSpPr>
          <p:cNvPr id="12" name="Text 6"/>
          <p:cNvSpPr/>
          <p:nvPr/>
        </p:nvSpPr>
        <p:spPr>
          <a:xfrm>
            <a:off x="726430" y="4327773"/>
            <a:ext cx="900410" cy="1107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650" b="1" dirty="0">
                <a:solidFill>
                  <a:srgbClr val="C2C4B5"/>
                </a:solidFill>
                <a:latin typeface="Outfit Bold" pitchFamily="34" charset="0"/>
                <a:ea typeface="Outfit Bold" pitchFamily="34" charset="-122"/>
                <a:cs typeface="Outfit Bold" pitchFamily="34" charset="-120"/>
              </a:rPr>
              <a:t>Secure Authentication</a:t>
            </a:r>
            <a:endParaRPr lang="en-US" sz="650" dirty="0"/>
          </a:p>
        </p:txBody>
      </p:sp>
      <p:sp>
        <p:nvSpPr>
          <p:cNvPr id="13" name="Text 7"/>
          <p:cNvSpPr/>
          <p:nvPr/>
        </p:nvSpPr>
        <p:spPr>
          <a:xfrm>
            <a:off x="726430" y="4459709"/>
            <a:ext cx="7921451" cy="850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550" dirty="0">
                <a:solidFill>
                  <a:srgbClr val="C2C4B5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Role-based login and authorisation controls</a:t>
            </a:r>
            <a:endParaRPr lang="en-US" sz="550" dirty="0"/>
          </a:p>
        </p:txBody>
      </p:sp>
      <p:pic>
        <p:nvPicPr>
          <p:cNvPr id="14" name="Image 4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22684" y="4617802"/>
            <a:ext cx="106263" cy="106263"/>
          </a:xfrm>
          <a:prstGeom prst="rect">
            <a:avLst/>
          </a:prstGeom>
        </p:spPr>
      </p:pic>
      <p:sp>
        <p:nvSpPr>
          <p:cNvPr id="15" name="Text 8"/>
          <p:cNvSpPr/>
          <p:nvPr/>
        </p:nvSpPr>
        <p:spPr>
          <a:xfrm>
            <a:off x="726430" y="4615607"/>
            <a:ext cx="1307678" cy="1107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650" b="1" dirty="0">
                <a:solidFill>
                  <a:srgbClr val="C2C4B5"/>
                </a:solidFill>
                <a:latin typeface="Outfit Bold" pitchFamily="34" charset="0"/>
                <a:ea typeface="Outfit Bold" pitchFamily="34" charset="-122"/>
                <a:cs typeface="Outfit Bold" pitchFamily="34" charset="-120"/>
              </a:rPr>
              <a:t>Approval &amp; Rejection Workflows</a:t>
            </a:r>
            <a:endParaRPr lang="en-US" sz="650" dirty="0"/>
          </a:p>
        </p:txBody>
      </p:sp>
      <p:sp>
        <p:nvSpPr>
          <p:cNvPr id="16" name="Text 9"/>
          <p:cNvSpPr/>
          <p:nvPr/>
        </p:nvSpPr>
        <p:spPr>
          <a:xfrm>
            <a:off x="726430" y="4747543"/>
            <a:ext cx="7921451" cy="850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550" dirty="0">
                <a:solidFill>
                  <a:srgbClr val="C2C4B5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Structured process for admin decision-making</a:t>
            </a:r>
            <a:endParaRPr lang="en-US" sz="550" dirty="0"/>
          </a:p>
        </p:txBody>
      </p:sp>
      <p:pic>
        <p:nvPicPr>
          <p:cNvPr id="17" name="Image 5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22684" y="4905635"/>
            <a:ext cx="106263" cy="106263"/>
          </a:xfrm>
          <a:prstGeom prst="rect">
            <a:avLst/>
          </a:prstGeom>
        </p:spPr>
      </p:pic>
      <p:sp>
        <p:nvSpPr>
          <p:cNvPr id="18" name="Text 10"/>
          <p:cNvSpPr/>
          <p:nvPr/>
        </p:nvSpPr>
        <p:spPr>
          <a:xfrm>
            <a:off x="726430" y="4903440"/>
            <a:ext cx="885974" cy="1107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650" b="1" dirty="0">
                <a:solidFill>
                  <a:srgbClr val="C2C4B5"/>
                </a:solidFill>
                <a:latin typeface="Outfit Bold" pitchFamily="34" charset="0"/>
                <a:ea typeface="Outfit Bold" pitchFamily="34" charset="-122"/>
                <a:cs typeface="Outfit Bold" pitchFamily="34" charset="-120"/>
              </a:rPr>
              <a:t>Reduce Manual Effort</a:t>
            </a:r>
            <a:endParaRPr lang="en-US" sz="650" dirty="0"/>
          </a:p>
        </p:txBody>
      </p:sp>
      <p:sp>
        <p:nvSpPr>
          <p:cNvPr id="19" name="Text 11"/>
          <p:cNvSpPr/>
          <p:nvPr/>
        </p:nvSpPr>
        <p:spPr>
          <a:xfrm>
            <a:off x="726430" y="5035376"/>
            <a:ext cx="7921451" cy="850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550" dirty="0">
                <a:solidFill>
                  <a:srgbClr val="C2C4B5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Less paperwork, faster turnaround times</a:t>
            </a:r>
            <a:endParaRPr lang="en-US" sz="5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406301"/>
            <a:ext cx="3724424" cy="4083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550" b="1" dirty="0">
                <a:solidFill>
                  <a:srgbClr val="E1E5CD"/>
                </a:solidFill>
                <a:latin typeface="Outfit Bold" pitchFamily="34" charset="0"/>
                <a:ea typeface="Outfit Bold" pitchFamily="34" charset="-122"/>
                <a:cs typeface="Outfit Bold" pitchFamily="34" charset="-120"/>
              </a:rPr>
              <a:t>Key Features</a:t>
            </a:r>
            <a:endParaRPr lang="en-US" sz="2550" dirty="0"/>
          </a:p>
        </p:txBody>
      </p:sp>
      <p:sp>
        <p:nvSpPr>
          <p:cNvPr id="3" name="Text 1"/>
          <p:cNvSpPr/>
          <p:nvPr/>
        </p:nvSpPr>
        <p:spPr>
          <a:xfrm>
            <a:off x="496119" y="1055638"/>
            <a:ext cx="8608963" cy="2008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1000" dirty="0">
                <a:solidFill>
                  <a:srgbClr val="C2C4B5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The system offers a comprehensive set of features covering the entire leave lifecycle — from registration to approval tracking.</a:t>
            </a:r>
            <a:endParaRPr lang="en-US" sz="10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96119" y="1391989"/>
            <a:ext cx="326678" cy="326678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496119" y="1869207"/>
            <a:ext cx="1633612" cy="2041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50" b="1" dirty="0">
                <a:solidFill>
                  <a:srgbClr val="C2C4B5"/>
                </a:solidFill>
                <a:latin typeface="Outfit Bold" pitchFamily="34" charset="0"/>
                <a:ea typeface="Outfit Bold" pitchFamily="34" charset="-122"/>
                <a:cs typeface="Outfit Bold" pitchFamily="34" charset="-120"/>
              </a:rPr>
              <a:t>Registration &amp; Login</a:t>
            </a:r>
            <a:endParaRPr lang="en-US" sz="1250" dirty="0"/>
          </a:p>
        </p:txBody>
      </p:sp>
      <p:sp>
        <p:nvSpPr>
          <p:cNvPr id="6" name="Text 3"/>
          <p:cNvSpPr/>
          <p:nvPr/>
        </p:nvSpPr>
        <p:spPr>
          <a:xfrm>
            <a:off x="496119" y="2145581"/>
            <a:ext cx="4000574" cy="2008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1000" dirty="0">
                <a:solidFill>
                  <a:srgbClr val="C2C4B5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Secure user onboarding with credential management</a:t>
            </a:r>
            <a:endParaRPr lang="en-US" sz="1000" dirty="0"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647233" y="1391989"/>
            <a:ext cx="326678" cy="326678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4647233" y="1869207"/>
            <a:ext cx="1633612" cy="2041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50" b="1" dirty="0">
                <a:solidFill>
                  <a:srgbClr val="C2C4B5"/>
                </a:solidFill>
                <a:latin typeface="Outfit Bold" pitchFamily="34" charset="0"/>
                <a:ea typeface="Outfit Bold" pitchFamily="34" charset="-122"/>
                <a:cs typeface="Outfit Bold" pitchFamily="34" charset="-120"/>
              </a:rPr>
              <a:t>Apply for Leave</a:t>
            </a:r>
            <a:endParaRPr lang="en-US" sz="1250" dirty="0"/>
          </a:p>
        </p:txBody>
      </p:sp>
      <p:sp>
        <p:nvSpPr>
          <p:cNvPr id="9" name="Text 5"/>
          <p:cNvSpPr/>
          <p:nvPr/>
        </p:nvSpPr>
        <p:spPr>
          <a:xfrm>
            <a:off x="4647233" y="2145581"/>
            <a:ext cx="4000649" cy="2008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1000" dirty="0">
                <a:solidFill>
                  <a:srgbClr val="C2C4B5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Employees submit leave requests with dates and reasons</a:t>
            </a:r>
            <a:endParaRPr lang="en-US" sz="1000" dirty="0"/>
          </a:p>
        </p:txBody>
      </p:sp>
      <p:pic>
        <p:nvPicPr>
          <p:cNvPr id="10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96119" y="2587377"/>
            <a:ext cx="326678" cy="326678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496119" y="3064594"/>
            <a:ext cx="1633612" cy="2041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50" b="1" dirty="0">
                <a:solidFill>
                  <a:srgbClr val="C2C4B5"/>
                </a:solidFill>
                <a:latin typeface="Outfit Bold" pitchFamily="34" charset="0"/>
                <a:ea typeface="Outfit Bold" pitchFamily="34" charset="-122"/>
                <a:cs typeface="Outfit Bold" pitchFamily="34" charset="-120"/>
              </a:rPr>
              <a:t>Leave History</a:t>
            </a:r>
            <a:endParaRPr lang="en-US" sz="1250" dirty="0"/>
          </a:p>
        </p:txBody>
      </p:sp>
      <p:sp>
        <p:nvSpPr>
          <p:cNvPr id="12" name="Text 7"/>
          <p:cNvSpPr/>
          <p:nvPr/>
        </p:nvSpPr>
        <p:spPr>
          <a:xfrm>
            <a:off x="496119" y="3340968"/>
            <a:ext cx="4000574" cy="2008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1000" dirty="0">
                <a:solidFill>
                  <a:srgbClr val="C2C4B5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View past and current leave status at a glance</a:t>
            </a:r>
            <a:endParaRPr lang="en-US" sz="1000" dirty="0"/>
          </a:p>
        </p:txBody>
      </p:sp>
      <p:pic>
        <p:nvPicPr>
          <p:cNvPr id="13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647233" y="2587377"/>
            <a:ext cx="326678" cy="326678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4647233" y="3064594"/>
            <a:ext cx="1633612" cy="2041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50" b="1" dirty="0">
                <a:solidFill>
                  <a:srgbClr val="C2C4B5"/>
                </a:solidFill>
                <a:latin typeface="Outfit Bold" pitchFamily="34" charset="0"/>
                <a:ea typeface="Outfit Bold" pitchFamily="34" charset="-122"/>
                <a:cs typeface="Outfit Bold" pitchFamily="34" charset="-120"/>
              </a:rPr>
              <a:t>Approve / Reject</a:t>
            </a:r>
            <a:endParaRPr lang="en-US" sz="1250" dirty="0"/>
          </a:p>
        </p:txBody>
      </p:sp>
      <p:sp>
        <p:nvSpPr>
          <p:cNvPr id="15" name="Text 9"/>
          <p:cNvSpPr/>
          <p:nvPr/>
        </p:nvSpPr>
        <p:spPr>
          <a:xfrm>
            <a:off x="4647233" y="3340968"/>
            <a:ext cx="4000649" cy="2008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1000" dirty="0">
                <a:solidFill>
                  <a:srgbClr val="C2C4B5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Admins review and act on pending requests</a:t>
            </a:r>
            <a:endParaRPr lang="en-US" sz="1000" dirty="0"/>
          </a:p>
        </p:txBody>
      </p:sp>
      <p:pic>
        <p:nvPicPr>
          <p:cNvPr id="16" name="Image 4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496119" y="3782764"/>
            <a:ext cx="326678" cy="326678"/>
          </a:xfrm>
          <a:prstGeom prst="rect">
            <a:avLst/>
          </a:prstGeom>
        </p:spPr>
      </p:pic>
      <p:sp>
        <p:nvSpPr>
          <p:cNvPr id="17" name="Text 10"/>
          <p:cNvSpPr/>
          <p:nvPr/>
        </p:nvSpPr>
        <p:spPr>
          <a:xfrm>
            <a:off x="496119" y="4259982"/>
            <a:ext cx="1633612" cy="2041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50" b="1" dirty="0">
                <a:solidFill>
                  <a:srgbClr val="C2C4B5"/>
                </a:solidFill>
                <a:latin typeface="Outfit Bold" pitchFamily="34" charset="0"/>
                <a:ea typeface="Outfit Bold" pitchFamily="34" charset="-122"/>
                <a:cs typeface="Outfit Bold" pitchFamily="34" charset="-120"/>
              </a:rPr>
              <a:t>Role-Based Access</a:t>
            </a:r>
            <a:endParaRPr lang="en-US" sz="1250" dirty="0"/>
          </a:p>
        </p:txBody>
      </p:sp>
      <p:sp>
        <p:nvSpPr>
          <p:cNvPr id="18" name="Text 11"/>
          <p:cNvSpPr/>
          <p:nvPr/>
        </p:nvSpPr>
        <p:spPr>
          <a:xfrm>
            <a:off x="496119" y="4536356"/>
            <a:ext cx="4000574" cy="2008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1000" dirty="0">
                <a:solidFill>
                  <a:srgbClr val="C2C4B5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Spring Security enforces employee and admin roles</a:t>
            </a:r>
            <a:endParaRPr lang="en-US" sz="1000" dirty="0"/>
          </a:p>
        </p:txBody>
      </p:sp>
      <p:pic>
        <p:nvPicPr>
          <p:cNvPr id="19" name="Image 5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4647233" y="3782764"/>
            <a:ext cx="326678" cy="326678"/>
          </a:xfrm>
          <a:prstGeom prst="rect">
            <a:avLst/>
          </a:prstGeom>
        </p:spPr>
      </p:pic>
      <p:sp>
        <p:nvSpPr>
          <p:cNvPr id="20" name="Text 12"/>
          <p:cNvSpPr/>
          <p:nvPr/>
        </p:nvSpPr>
        <p:spPr>
          <a:xfrm>
            <a:off x="4647233" y="4259982"/>
            <a:ext cx="1633612" cy="2041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50" b="1" dirty="0">
                <a:solidFill>
                  <a:srgbClr val="C2C4B5"/>
                </a:solidFill>
                <a:latin typeface="Outfit Bold" pitchFamily="34" charset="0"/>
                <a:ea typeface="Outfit Bold" pitchFamily="34" charset="-122"/>
                <a:cs typeface="Outfit Bold" pitchFamily="34" charset="-120"/>
              </a:rPr>
              <a:t>REST API Support</a:t>
            </a:r>
            <a:endParaRPr lang="en-US" sz="1250" dirty="0"/>
          </a:p>
        </p:txBody>
      </p:sp>
      <p:sp>
        <p:nvSpPr>
          <p:cNvPr id="21" name="Text 13"/>
          <p:cNvSpPr/>
          <p:nvPr/>
        </p:nvSpPr>
        <p:spPr>
          <a:xfrm>
            <a:off x="4647233" y="4536356"/>
            <a:ext cx="4000649" cy="2008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1000" dirty="0">
                <a:solidFill>
                  <a:srgbClr val="C2C4B5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Clean API layer for integration and testing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430857"/>
            <a:ext cx="2893814" cy="3045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900" b="1" dirty="0">
                <a:solidFill>
                  <a:srgbClr val="E1E5CD"/>
                </a:solidFill>
                <a:latin typeface="Outfit Bold" pitchFamily="34" charset="0"/>
                <a:ea typeface="Outfit Bold" pitchFamily="34" charset="-122"/>
                <a:cs typeface="Outfit Bold" pitchFamily="34" charset="-120"/>
              </a:rPr>
              <a:t>Technologies Used</a:t>
            </a:r>
            <a:endParaRPr lang="en-US" sz="19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96119" y="869305"/>
            <a:ext cx="8151763" cy="584746"/>
          </a:xfrm>
          <a:prstGeom prst="rect">
            <a:avLst/>
          </a:prstGeom>
        </p:spPr>
      </p:pic>
      <p:pic>
        <p:nvPicPr>
          <p:cNvPr id="4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32222" y="1088529"/>
            <a:ext cx="146149" cy="146149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967234" y="981001"/>
            <a:ext cx="1218307" cy="1522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950" b="1" dirty="0">
                <a:solidFill>
                  <a:srgbClr val="C2C4B5"/>
                </a:solidFill>
                <a:latin typeface="Outfit Bold" pitchFamily="34" charset="0"/>
                <a:ea typeface="Outfit Bold" pitchFamily="34" charset="-122"/>
                <a:cs typeface="Outfit Bold" pitchFamily="34" charset="-120"/>
              </a:rPr>
              <a:t>Java 17</a:t>
            </a:r>
            <a:endParaRPr lang="en-US" sz="950" dirty="0"/>
          </a:p>
        </p:txBody>
      </p:sp>
      <p:sp>
        <p:nvSpPr>
          <p:cNvPr id="6" name="Text 2"/>
          <p:cNvSpPr/>
          <p:nvPr/>
        </p:nvSpPr>
        <p:spPr>
          <a:xfrm>
            <a:off x="967234" y="1173435"/>
            <a:ext cx="7568952" cy="1315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750" dirty="0">
                <a:solidFill>
                  <a:srgbClr val="C2C4B5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Core language for backend development</a:t>
            </a:r>
            <a:endParaRPr lang="en-US" sz="750" dirty="0"/>
          </a:p>
        </p:txBody>
      </p:sp>
      <p:pic>
        <p:nvPicPr>
          <p:cNvPr id="7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96119" y="1521023"/>
            <a:ext cx="8151763" cy="584746"/>
          </a:xfrm>
          <a:prstGeom prst="rect">
            <a:avLst/>
          </a:prstGeom>
        </p:spPr>
      </p:pic>
      <p:pic>
        <p:nvPicPr>
          <p:cNvPr id="8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32222" y="1740247"/>
            <a:ext cx="146149" cy="146149"/>
          </a:xfrm>
          <a:prstGeom prst="rect">
            <a:avLst/>
          </a:prstGeom>
        </p:spPr>
      </p:pic>
      <p:sp>
        <p:nvSpPr>
          <p:cNvPr id="9" name="Text 3"/>
          <p:cNvSpPr/>
          <p:nvPr/>
        </p:nvSpPr>
        <p:spPr>
          <a:xfrm>
            <a:off x="967234" y="1632719"/>
            <a:ext cx="1218307" cy="1522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950" b="1" dirty="0">
                <a:solidFill>
                  <a:srgbClr val="C2C4B5"/>
                </a:solidFill>
                <a:latin typeface="Outfit Bold" pitchFamily="34" charset="0"/>
                <a:ea typeface="Outfit Bold" pitchFamily="34" charset="-122"/>
                <a:cs typeface="Outfit Bold" pitchFamily="34" charset="-120"/>
              </a:rPr>
              <a:t>Spring Boot</a:t>
            </a:r>
            <a:endParaRPr lang="en-US" sz="950" dirty="0"/>
          </a:p>
        </p:txBody>
      </p:sp>
      <p:sp>
        <p:nvSpPr>
          <p:cNvPr id="10" name="Text 4"/>
          <p:cNvSpPr/>
          <p:nvPr/>
        </p:nvSpPr>
        <p:spPr>
          <a:xfrm>
            <a:off x="967234" y="1825154"/>
            <a:ext cx="7568952" cy="1315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750" dirty="0">
                <a:solidFill>
                  <a:srgbClr val="C2C4B5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Rapid application development framework</a:t>
            </a:r>
            <a:endParaRPr lang="en-US" sz="750" dirty="0"/>
          </a:p>
        </p:txBody>
      </p:sp>
      <p:pic>
        <p:nvPicPr>
          <p:cNvPr id="11" name="Image 4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96119" y="2172742"/>
            <a:ext cx="8151763" cy="584746"/>
          </a:xfrm>
          <a:prstGeom prst="rect">
            <a:avLst/>
          </a:prstGeom>
        </p:spPr>
      </p:pic>
      <p:pic>
        <p:nvPicPr>
          <p:cNvPr id="12" name="Image 5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32222" y="2391966"/>
            <a:ext cx="146149" cy="146149"/>
          </a:xfrm>
          <a:prstGeom prst="rect">
            <a:avLst/>
          </a:prstGeom>
        </p:spPr>
      </p:pic>
      <p:sp>
        <p:nvSpPr>
          <p:cNvPr id="13" name="Text 5"/>
          <p:cNvSpPr/>
          <p:nvPr/>
        </p:nvSpPr>
        <p:spPr>
          <a:xfrm>
            <a:off x="967234" y="2284437"/>
            <a:ext cx="1218307" cy="1522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950" b="1" dirty="0">
                <a:solidFill>
                  <a:srgbClr val="C2C4B5"/>
                </a:solidFill>
                <a:latin typeface="Outfit Bold" pitchFamily="34" charset="0"/>
                <a:ea typeface="Outfit Bold" pitchFamily="34" charset="-122"/>
                <a:cs typeface="Outfit Bold" pitchFamily="34" charset="-120"/>
              </a:rPr>
              <a:t>Spring Data JPA</a:t>
            </a:r>
            <a:endParaRPr lang="en-US" sz="950" dirty="0"/>
          </a:p>
        </p:txBody>
      </p:sp>
      <p:sp>
        <p:nvSpPr>
          <p:cNvPr id="14" name="Text 6"/>
          <p:cNvSpPr/>
          <p:nvPr/>
        </p:nvSpPr>
        <p:spPr>
          <a:xfrm>
            <a:off x="967234" y="2476872"/>
            <a:ext cx="7568952" cy="1315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750" dirty="0">
                <a:solidFill>
                  <a:srgbClr val="C2C4B5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ORM layer for database interactions</a:t>
            </a:r>
            <a:endParaRPr lang="en-US" sz="750" dirty="0"/>
          </a:p>
        </p:txBody>
      </p:sp>
      <p:pic>
        <p:nvPicPr>
          <p:cNvPr id="15" name="Image 6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96119" y="2824460"/>
            <a:ext cx="8151763" cy="584746"/>
          </a:xfrm>
          <a:prstGeom prst="rect">
            <a:avLst/>
          </a:prstGeom>
        </p:spPr>
      </p:pic>
      <p:pic>
        <p:nvPicPr>
          <p:cNvPr id="16" name="Image 7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632222" y="3043684"/>
            <a:ext cx="146149" cy="146149"/>
          </a:xfrm>
          <a:prstGeom prst="rect">
            <a:avLst/>
          </a:prstGeom>
        </p:spPr>
      </p:pic>
      <p:sp>
        <p:nvSpPr>
          <p:cNvPr id="17" name="Text 7"/>
          <p:cNvSpPr/>
          <p:nvPr/>
        </p:nvSpPr>
        <p:spPr>
          <a:xfrm>
            <a:off x="967234" y="2936156"/>
            <a:ext cx="1218307" cy="1522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950" b="1" dirty="0">
                <a:solidFill>
                  <a:srgbClr val="C2C4B5"/>
                </a:solidFill>
                <a:latin typeface="Outfit Bold" pitchFamily="34" charset="0"/>
                <a:ea typeface="Outfit Bold" pitchFamily="34" charset="-122"/>
                <a:cs typeface="Outfit Bold" pitchFamily="34" charset="-120"/>
              </a:rPr>
              <a:t>Spring Security</a:t>
            </a:r>
            <a:endParaRPr lang="en-US" sz="950" dirty="0"/>
          </a:p>
        </p:txBody>
      </p:sp>
      <p:sp>
        <p:nvSpPr>
          <p:cNvPr id="18" name="Text 8"/>
          <p:cNvSpPr/>
          <p:nvPr/>
        </p:nvSpPr>
        <p:spPr>
          <a:xfrm>
            <a:off x="967234" y="3128590"/>
            <a:ext cx="7568952" cy="1315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750" dirty="0">
                <a:solidFill>
                  <a:srgbClr val="C2C4B5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Authentication and authorisation</a:t>
            </a:r>
            <a:endParaRPr lang="en-US" sz="750" dirty="0"/>
          </a:p>
        </p:txBody>
      </p:sp>
      <p:pic>
        <p:nvPicPr>
          <p:cNvPr id="19" name="Image 8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96119" y="3476179"/>
            <a:ext cx="8151763" cy="584746"/>
          </a:xfrm>
          <a:prstGeom prst="rect">
            <a:avLst/>
          </a:prstGeom>
        </p:spPr>
      </p:pic>
      <p:pic>
        <p:nvPicPr>
          <p:cNvPr id="20" name="Image 9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632222" y="3695402"/>
            <a:ext cx="146149" cy="146149"/>
          </a:xfrm>
          <a:prstGeom prst="rect">
            <a:avLst/>
          </a:prstGeom>
        </p:spPr>
      </p:pic>
      <p:sp>
        <p:nvSpPr>
          <p:cNvPr id="21" name="Text 9"/>
          <p:cNvSpPr/>
          <p:nvPr/>
        </p:nvSpPr>
        <p:spPr>
          <a:xfrm>
            <a:off x="967234" y="3587874"/>
            <a:ext cx="1218307" cy="1522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950" b="1" dirty="0">
                <a:solidFill>
                  <a:srgbClr val="C2C4B5"/>
                </a:solidFill>
                <a:latin typeface="Outfit Bold" pitchFamily="34" charset="0"/>
                <a:ea typeface="Outfit Bold" pitchFamily="34" charset="-122"/>
                <a:cs typeface="Outfit Bold" pitchFamily="34" charset="-120"/>
              </a:rPr>
              <a:t>MySQL</a:t>
            </a:r>
            <a:endParaRPr lang="en-US" sz="950" dirty="0"/>
          </a:p>
        </p:txBody>
      </p:sp>
      <p:sp>
        <p:nvSpPr>
          <p:cNvPr id="22" name="Text 10"/>
          <p:cNvSpPr/>
          <p:nvPr/>
        </p:nvSpPr>
        <p:spPr>
          <a:xfrm>
            <a:off x="967234" y="3780309"/>
            <a:ext cx="7568952" cy="1315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750" dirty="0">
                <a:solidFill>
                  <a:srgbClr val="C2C4B5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Relational database for data storage</a:t>
            </a:r>
            <a:endParaRPr lang="en-US" sz="750" dirty="0"/>
          </a:p>
        </p:txBody>
      </p:sp>
      <p:pic>
        <p:nvPicPr>
          <p:cNvPr id="23" name="Image 1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96119" y="4127897"/>
            <a:ext cx="8151763" cy="584746"/>
          </a:xfrm>
          <a:prstGeom prst="rect">
            <a:avLst/>
          </a:prstGeom>
        </p:spPr>
      </p:pic>
      <p:pic>
        <p:nvPicPr>
          <p:cNvPr id="24" name="Image 1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632222" y="4347121"/>
            <a:ext cx="146149" cy="146149"/>
          </a:xfrm>
          <a:prstGeom prst="rect">
            <a:avLst/>
          </a:prstGeom>
        </p:spPr>
      </p:pic>
      <p:sp>
        <p:nvSpPr>
          <p:cNvPr id="25" name="Text 11"/>
          <p:cNvSpPr/>
          <p:nvPr/>
        </p:nvSpPr>
        <p:spPr>
          <a:xfrm>
            <a:off x="967234" y="4239592"/>
            <a:ext cx="1218307" cy="1522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950" b="1" dirty="0">
                <a:solidFill>
                  <a:srgbClr val="C2C4B5"/>
                </a:solidFill>
                <a:latin typeface="Outfit Bold" pitchFamily="34" charset="0"/>
                <a:ea typeface="Outfit Bold" pitchFamily="34" charset="-122"/>
                <a:cs typeface="Outfit Bold" pitchFamily="34" charset="-120"/>
              </a:rPr>
              <a:t>Maven &amp; Postman</a:t>
            </a:r>
            <a:endParaRPr lang="en-US" sz="950" dirty="0"/>
          </a:p>
        </p:txBody>
      </p:sp>
      <p:sp>
        <p:nvSpPr>
          <p:cNvPr id="26" name="Text 12"/>
          <p:cNvSpPr/>
          <p:nvPr/>
        </p:nvSpPr>
        <p:spPr>
          <a:xfrm>
            <a:off x="967234" y="4432027"/>
            <a:ext cx="7568952" cy="1315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750" dirty="0">
                <a:solidFill>
                  <a:srgbClr val="C2C4B5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Build management and API testing</a:t>
            </a:r>
            <a:endParaRPr lang="en-US" sz="7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392906"/>
            <a:ext cx="22292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E1E5CD"/>
                </a:solidFill>
                <a:latin typeface="Outfit Bold" pitchFamily="34" charset="0"/>
                <a:ea typeface="Outfit Bold" pitchFamily="34" charset="-122"/>
                <a:cs typeface="Outfit Bold" pitchFamily="34" charset="-120"/>
              </a:rPr>
              <a:t>System Architecture</a:t>
            </a:r>
            <a:endParaRPr lang="en-US" sz="1350" dirty="0"/>
          </a:p>
        </p:txBody>
      </p:sp>
      <p:sp>
        <p:nvSpPr>
          <p:cNvPr id="3" name="Text 1"/>
          <p:cNvSpPr/>
          <p:nvPr/>
        </p:nvSpPr>
        <p:spPr>
          <a:xfrm>
            <a:off x="496119" y="685205"/>
            <a:ext cx="8608963" cy="850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550" dirty="0">
                <a:solidFill>
                  <a:srgbClr val="C2C4B5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The application follows a clean </a:t>
            </a:r>
            <a:r>
              <a:rPr lang="en-US" sz="550" b="1" dirty="0">
                <a:solidFill>
                  <a:srgbClr val="C2C4B5"/>
                </a:solidFill>
                <a:latin typeface="Bitter Bold" pitchFamily="34" charset="0"/>
                <a:ea typeface="Bitter Bold" pitchFamily="34" charset="-122"/>
                <a:cs typeface="Bitter Bold" pitchFamily="34" charset="-120"/>
              </a:rPr>
              <a:t>layered architecture</a:t>
            </a:r>
            <a:r>
              <a:rPr lang="en-US" sz="550" dirty="0">
                <a:solidFill>
                  <a:srgbClr val="C2C4B5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, separating concerns across four distinct layers for maintainability and scalability.</a:t>
            </a:r>
            <a:endParaRPr lang="en-US" sz="55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6119" y="810071"/>
            <a:ext cx="8151763" cy="37306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6467310" y="1327984"/>
            <a:ext cx="1902175" cy="22540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00" b="1" dirty="0">
                <a:solidFill>
                  <a:srgbClr val="C2C4B5"/>
                </a:solidFill>
                <a:latin typeface="Outfit Bold" pitchFamily="34" charset="0"/>
                <a:ea typeface="Outfit Bold" pitchFamily="34" charset="-122"/>
                <a:cs typeface="Outfit Bold" pitchFamily="34" charset="-120"/>
              </a:rPr>
              <a:t>Repository &amp; Database</a:t>
            </a:r>
            <a:endParaRPr lang="en-US" sz="1400" dirty="0"/>
          </a:p>
        </p:txBody>
      </p:sp>
      <p:sp>
        <p:nvSpPr>
          <p:cNvPr id="6" name="Text 3"/>
          <p:cNvSpPr/>
          <p:nvPr/>
        </p:nvSpPr>
        <p:spPr>
          <a:xfrm>
            <a:off x="6467310" y="1617505"/>
            <a:ext cx="1987578" cy="27048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78000"/>
              </a:lnSpc>
              <a:buNone/>
            </a:pPr>
            <a:r>
              <a:rPr lang="en-US" sz="1100" dirty="0">
                <a:solidFill>
                  <a:srgbClr val="C2C4B5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Performs DB operations; MySQL stores data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712951" y="2486570"/>
            <a:ext cx="1803247" cy="22540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ct val="104000"/>
              </a:lnSpc>
              <a:buNone/>
            </a:pPr>
            <a:r>
              <a:rPr lang="en-US" sz="1400" b="1" dirty="0">
                <a:solidFill>
                  <a:srgbClr val="C2C4B5"/>
                </a:solidFill>
                <a:latin typeface="Outfit Bold" pitchFamily="34" charset="0"/>
                <a:ea typeface="Outfit Bold" pitchFamily="34" charset="-122"/>
                <a:cs typeface="Outfit Bold" pitchFamily="34" charset="-120"/>
              </a:rPr>
              <a:t>Service Layer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688908" y="2776091"/>
            <a:ext cx="1827290" cy="4057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lnSpc>
                <a:spcPct val="78000"/>
              </a:lnSpc>
              <a:buNone/>
            </a:pPr>
            <a:r>
              <a:rPr lang="en-US" sz="1100" dirty="0">
                <a:solidFill>
                  <a:srgbClr val="C2C4B5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Contains business logic and orchestrates operations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6467310" y="3187331"/>
            <a:ext cx="1803246" cy="22540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00" b="1" dirty="0">
                <a:solidFill>
                  <a:srgbClr val="C2C4B5"/>
                </a:solidFill>
                <a:latin typeface="Outfit Bold" pitchFamily="34" charset="0"/>
                <a:ea typeface="Outfit Bold" pitchFamily="34" charset="-122"/>
                <a:cs typeface="Outfit Bold" pitchFamily="34" charset="-120"/>
              </a:rPr>
              <a:t>Controller Layer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6467310" y="3476853"/>
            <a:ext cx="1987578" cy="27048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78000"/>
              </a:lnSpc>
              <a:buNone/>
            </a:pPr>
            <a:r>
              <a:rPr lang="en-US" sz="1100" dirty="0">
                <a:solidFill>
                  <a:srgbClr val="C2C4B5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Handles incoming HTTP requests and routing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496119" y="4580483"/>
            <a:ext cx="8151763" cy="17011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550" dirty="0">
                <a:solidFill>
                  <a:srgbClr val="C2C4B5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Each layer has a single responsibility: the </a:t>
            </a:r>
            <a:r>
              <a:rPr lang="en-US" sz="550" b="1" dirty="0">
                <a:solidFill>
                  <a:srgbClr val="C2C4B5"/>
                </a:solidFill>
                <a:latin typeface="Bitter Bold" pitchFamily="34" charset="0"/>
                <a:ea typeface="Bitter Bold" pitchFamily="34" charset="-122"/>
                <a:cs typeface="Bitter Bold" pitchFamily="34" charset="-120"/>
              </a:rPr>
              <a:t>Controller</a:t>
            </a:r>
            <a:r>
              <a:rPr lang="en-US" sz="550" dirty="0">
                <a:solidFill>
                  <a:srgbClr val="C2C4B5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 manages incoming HTTP requests, the </a:t>
            </a:r>
            <a:r>
              <a:rPr lang="en-US" sz="550" b="1" dirty="0">
                <a:solidFill>
                  <a:srgbClr val="C2C4B5"/>
                </a:solidFill>
                <a:latin typeface="Bitter Bold" pitchFamily="34" charset="0"/>
                <a:ea typeface="Bitter Bold" pitchFamily="34" charset="-122"/>
                <a:cs typeface="Bitter Bold" pitchFamily="34" charset="-120"/>
              </a:rPr>
              <a:t>Service</a:t>
            </a:r>
            <a:r>
              <a:rPr lang="en-US" sz="550" dirty="0">
                <a:solidFill>
                  <a:srgbClr val="C2C4B5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 layer encapsulates business rules, the </a:t>
            </a:r>
            <a:r>
              <a:rPr lang="en-US" sz="550" b="1" dirty="0">
                <a:solidFill>
                  <a:srgbClr val="C2C4B5"/>
                </a:solidFill>
                <a:latin typeface="Bitter Bold" pitchFamily="34" charset="0"/>
                <a:ea typeface="Bitter Bold" pitchFamily="34" charset="-122"/>
                <a:cs typeface="Bitter Bold" pitchFamily="34" charset="-120"/>
              </a:rPr>
              <a:t>Repository</a:t>
            </a:r>
            <a:r>
              <a:rPr lang="en-US" sz="550" dirty="0">
                <a:solidFill>
                  <a:srgbClr val="C2C4B5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 layer handles all database interactions via JPA, and </a:t>
            </a:r>
            <a:r>
              <a:rPr lang="en-US" sz="550" b="1" dirty="0">
                <a:solidFill>
                  <a:srgbClr val="C2C4B5"/>
                </a:solidFill>
                <a:latin typeface="Bitter Bold" pitchFamily="34" charset="0"/>
                <a:ea typeface="Bitter Bold" pitchFamily="34" charset="-122"/>
                <a:cs typeface="Bitter Bold" pitchFamily="34" charset="-120"/>
              </a:rPr>
              <a:t>MySQL</a:t>
            </a:r>
            <a:r>
              <a:rPr lang="en-US" sz="550" dirty="0">
                <a:solidFill>
                  <a:srgbClr val="C2C4B5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 provides persistent storage for users and leave records.</a:t>
            </a:r>
            <a:endParaRPr lang="en-US" sz="5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871761"/>
            <a:ext cx="4001319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750" b="1" dirty="0">
                <a:solidFill>
                  <a:srgbClr val="E1E5CD"/>
                </a:solidFill>
                <a:latin typeface="Outfit Bold" pitchFamily="34" charset="0"/>
                <a:ea typeface="Outfit Bold" pitchFamily="34" charset="-122"/>
                <a:cs typeface="Outfit Bold" pitchFamily="34" charset="-120"/>
              </a:rPr>
              <a:t>Database Design</a:t>
            </a:r>
            <a:endParaRPr lang="en-US" sz="2750" dirty="0"/>
          </a:p>
        </p:txBody>
      </p:sp>
      <p:sp>
        <p:nvSpPr>
          <p:cNvPr id="3" name="Text 1"/>
          <p:cNvSpPr/>
          <p:nvPr/>
        </p:nvSpPr>
        <p:spPr>
          <a:xfrm>
            <a:off x="496119" y="1669107"/>
            <a:ext cx="22292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E1E5CD"/>
                </a:solidFill>
                <a:latin typeface="Outfit Bold" pitchFamily="34" charset="0"/>
                <a:ea typeface="Outfit Bold" pitchFamily="34" charset="-122"/>
                <a:cs typeface="Outfit Bold" pitchFamily="34" charset="-120"/>
              </a:rPr>
              <a:t>Users Table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496119" y="2032322"/>
            <a:ext cx="3902943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C2C4B5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Stores all registered users with authentication credentials and role assignments.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96119" y="2613496"/>
            <a:ext cx="3902943" cy="133230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223520" indent="-223520" algn="l">
              <a:lnSpc>
                <a:spcPct val="133000"/>
              </a:lnSpc>
              <a:buSzPct val="100000"/>
              <a:buChar char="•"/>
            </a:pPr>
            <a:r>
              <a:rPr lang="en-US" sz="1100" b="1" dirty="0">
                <a:solidFill>
                  <a:srgbClr val="C2C4B5"/>
                </a:solidFill>
                <a:latin typeface="Bitter Bold" pitchFamily="34" charset="0"/>
                <a:ea typeface="Bitter Bold" pitchFamily="34" charset="-122"/>
                <a:cs typeface="Bitter Bold" pitchFamily="34" charset="-120"/>
              </a:rPr>
              <a:t>User ID</a:t>
            </a:r>
            <a:r>
              <a:rPr lang="en-US" sz="1100" dirty="0">
                <a:solidFill>
                  <a:srgbClr val="C2C4B5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 — Primary key</a:t>
            </a:r>
            <a:endParaRPr lang="en-US" sz="1100" dirty="0"/>
          </a:p>
          <a:p>
            <a:pPr marL="223520" indent="-223520" algn="l">
              <a:lnSpc>
                <a:spcPct val="133000"/>
              </a:lnSpc>
              <a:buSzPct val="100000"/>
              <a:buChar char="•"/>
            </a:pPr>
            <a:r>
              <a:rPr lang="en-US" sz="1100" b="1" dirty="0">
                <a:solidFill>
                  <a:srgbClr val="C2C4B5"/>
                </a:solidFill>
                <a:latin typeface="Bitter Bold" pitchFamily="34" charset="0"/>
                <a:ea typeface="Bitter Bold" pitchFamily="34" charset="-122"/>
                <a:cs typeface="Bitter Bold" pitchFamily="34" charset="-120"/>
              </a:rPr>
              <a:t>Name</a:t>
            </a:r>
            <a:r>
              <a:rPr lang="en-US" sz="1100" dirty="0">
                <a:solidFill>
                  <a:srgbClr val="C2C4B5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 — Employee full name</a:t>
            </a:r>
            <a:endParaRPr lang="en-US" sz="1100" dirty="0"/>
          </a:p>
          <a:p>
            <a:pPr marL="223520" indent="-223520" algn="l">
              <a:lnSpc>
                <a:spcPct val="133000"/>
              </a:lnSpc>
              <a:buSzPct val="100000"/>
              <a:buChar char="•"/>
            </a:pPr>
            <a:r>
              <a:rPr lang="en-US" sz="1100" b="1" dirty="0">
                <a:solidFill>
                  <a:srgbClr val="C2C4B5"/>
                </a:solidFill>
                <a:latin typeface="Bitter Bold" pitchFamily="34" charset="0"/>
                <a:ea typeface="Bitter Bold" pitchFamily="34" charset="-122"/>
                <a:cs typeface="Bitter Bold" pitchFamily="34" charset="-120"/>
              </a:rPr>
              <a:t>Email</a:t>
            </a:r>
            <a:r>
              <a:rPr lang="en-US" sz="1100" dirty="0">
                <a:solidFill>
                  <a:srgbClr val="C2C4B5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 — Unique login identifier</a:t>
            </a:r>
            <a:endParaRPr lang="en-US" sz="1100" dirty="0"/>
          </a:p>
          <a:p>
            <a:pPr marL="223520" indent="-223520" algn="l">
              <a:lnSpc>
                <a:spcPct val="133000"/>
              </a:lnSpc>
              <a:buSzPct val="100000"/>
              <a:buChar char="•"/>
            </a:pPr>
            <a:r>
              <a:rPr lang="en-US" sz="1100" b="1" dirty="0">
                <a:solidFill>
                  <a:srgbClr val="C2C4B5"/>
                </a:solidFill>
                <a:latin typeface="Bitter Bold" pitchFamily="34" charset="0"/>
                <a:ea typeface="Bitter Bold" pitchFamily="34" charset="-122"/>
                <a:cs typeface="Bitter Bold" pitchFamily="34" charset="-120"/>
              </a:rPr>
              <a:t>Password</a:t>
            </a:r>
            <a:r>
              <a:rPr lang="en-US" sz="1100" dirty="0">
                <a:solidFill>
                  <a:srgbClr val="C2C4B5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 — Encrypted credential</a:t>
            </a:r>
            <a:endParaRPr lang="en-US" sz="1100" dirty="0"/>
          </a:p>
          <a:p>
            <a:pPr marL="223520" indent="-223520" algn="l">
              <a:lnSpc>
                <a:spcPct val="133000"/>
              </a:lnSpc>
              <a:buSzPct val="100000"/>
              <a:buChar char="•"/>
            </a:pPr>
            <a:r>
              <a:rPr lang="en-US" sz="1100" b="1" dirty="0">
                <a:solidFill>
                  <a:srgbClr val="C2C4B5"/>
                </a:solidFill>
                <a:latin typeface="Bitter Bold" pitchFamily="34" charset="0"/>
                <a:ea typeface="Bitter Bold" pitchFamily="34" charset="-122"/>
                <a:cs typeface="Bitter Bold" pitchFamily="34" charset="-120"/>
              </a:rPr>
              <a:t>Role</a:t>
            </a:r>
            <a:r>
              <a:rPr lang="en-US" sz="1100" dirty="0">
                <a:solidFill>
                  <a:srgbClr val="C2C4B5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 — EMPLOYEE or ADMIN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749701" y="1669107"/>
            <a:ext cx="22292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E1E5CD"/>
                </a:solidFill>
                <a:latin typeface="Outfit Bold" pitchFamily="34" charset="0"/>
                <a:ea typeface="Outfit Bold" pitchFamily="34" charset="-122"/>
                <a:cs typeface="Outfit Bold" pitchFamily="34" charset="-120"/>
              </a:rPr>
              <a:t>Leave Requests Table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4749701" y="2032322"/>
            <a:ext cx="3902943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C2C4B5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Captures every leave application with full details and approval status.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749701" y="2613496"/>
            <a:ext cx="3902943" cy="160868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223520" indent="-223520" algn="l">
              <a:lnSpc>
                <a:spcPct val="133000"/>
              </a:lnSpc>
              <a:buSzPct val="100000"/>
              <a:buChar char="•"/>
            </a:pPr>
            <a:r>
              <a:rPr lang="en-US" sz="1100" b="1" dirty="0">
                <a:solidFill>
                  <a:srgbClr val="C2C4B5"/>
                </a:solidFill>
                <a:latin typeface="Bitter Bold" pitchFamily="34" charset="0"/>
                <a:ea typeface="Bitter Bold" pitchFamily="34" charset="-122"/>
                <a:cs typeface="Bitter Bold" pitchFamily="34" charset="-120"/>
              </a:rPr>
              <a:t>Leave ID</a:t>
            </a:r>
            <a:r>
              <a:rPr lang="en-US" sz="1100" dirty="0">
                <a:solidFill>
                  <a:srgbClr val="C2C4B5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 — Primary key</a:t>
            </a:r>
            <a:endParaRPr lang="en-US" sz="1100" dirty="0"/>
          </a:p>
          <a:p>
            <a:pPr marL="223520" indent="-223520" algn="l">
              <a:lnSpc>
                <a:spcPct val="133000"/>
              </a:lnSpc>
              <a:buSzPct val="100000"/>
              <a:buChar char="•"/>
            </a:pPr>
            <a:r>
              <a:rPr lang="en-US" sz="1100" b="1" dirty="0">
                <a:solidFill>
                  <a:srgbClr val="C2C4B5"/>
                </a:solidFill>
                <a:latin typeface="Bitter Bold" pitchFamily="34" charset="0"/>
                <a:ea typeface="Bitter Bold" pitchFamily="34" charset="-122"/>
                <a:cs typeface="Bitter Bold" pitchFamily="34" charset="-120"/>
              </a:rPr>
              <a:t>Employee Name</a:t>
            </a:r>
            <a:r>
              <a:rPr lang="en-US" sz="1100" dirty="0">
                <a:solidFill>
                  <a:srgbClr val="C2C4B5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 — Requester</a:t>
            </a:r>
            <a:endParaRPr lang="en-US" sz="1100" dirty="0"/>
          </a:p>
          <a:p>
            <a:pPr marL="223520" indent="-223520" algn="l">
              <a:lnSpc>
                <a:spcPct val="133000"/>
              </a:lnSpc>
              <a:buSzPct val="100000"/>
              <a:buChar char="•"/>
            </a:pPr>
            <a:r>
              <a:rPr lang="en-US" sz="1100" b="1" dirty="0">
                <a:solidFill>
                  <a:srgbClr val="C2C4B5"/>
                </a:solidFill>
                <a:latin typeface="Bitter Bold" pitchFamily="34" charset="0"/>
                <a:ea typeface="Bitter Bold" pitchFamily="34" charset="-122"/>
                <a:cs typeface="Bitter Bold" pitchFamily="34" charset="-120"/>
              </a:rPr>
              <a:t>Leave Type</a:t>
            </a:r>
            <a:r>
              <a:rPr lang="en-US" sz="1100" dirty="0">
                <a:solidFill>
                  <a:srgbClr val="C2C4B5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 — Sick, Casual, etc.</a:t>
            </a:r>
            <a:endParaRPr lang="en-US" sz="1100" dirty="0"/>
          </a:p>
          <a:p>
            <a:pPr marL="223520" indent="-223520" algn="l">
              <a:lnSpc>
                <a:spcPct val="133000"/>
              </a:lnSpc>
              <a:buSzPct val="100000"/>
              <a:buChar char="•"/>
            </a:pPr>
            <a:r>
              <a:rPr lang="en-US" sz="1100" b="1" dirty="0">
                <a:solidFill>
                  <a:srgbClr val="C2C4B5"/>
                </a:solidFill>
                <a:latin typeface="Bitter Bold" pitchFamily="34" charset="0"/>
                <a:ea typeface="Bitter Bold" pitchFamily="34" charset="-122"/>
                <a:cs typeface="Bitter Bold" pitchFamily="34" charset="-120"/>
              </a:rPr>
              <a:t>Start Date &amp; End Date</a:t>
            </a:r>
            <a:endParaRPr lang="en-US" sz="1100" dirty="0"/>
          </a:p>
          <a:p>
            <a:pPr marL="223520" indent="-223520" algn="l">
              <a:lnSpc>
                <a:spcPct val="133000"/>
              </a:lnSpc>
              <a:buSzPct val="100000"/>
              <a:buChar char="•"/>
            </a:pPr>
            <a:r>
              <a:rPr lang="en-US" sz="1100" b="1" dirty="0">
                <a:solidFill>
                  <a:srgbClr val="C2C4B5"/>
                </a:solidFill>
                <a:latin typeface="Bitter Bold" pitchFamily="34" charset="0"/>
                <a:ea typeface="Bitter Bold" pitchFamily="34" charset="-122"/>
                <a:cs typeface="Bitter Bold" pitchFamily="34" charset="-120"/>
              </a:rPr>
              <a:t>Reason</a:t>
            </a:r>
            <a:r>
              <a:rPr lang="en-US" sz="1100" dirty="0">
                <a:solidFill>
                  <a:srgbClr val="C2C4B5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 — Leave justification</a:t>
            </a:r>
            <a:endParaRPr lang="en-US" sz="1100" dirty="0"/>
          </a:p>
          <a:p>
            <a:pPr marL="223520" indent="-223520" algn="l">
              <a:lnSpc>
                <a:spcPct val="133000"/>
              </a:lnSpc>
              <a:buSzPct val="100000"/>
              <a:buChar char="•"/>
            </a:pPr>
            <a:r>
              <a:rPr lang="en-US" sz="1100" b="1" dirty="0">
                <a:solidFill>
                  <a:srgbClr val="C2C4B5"/>
                </a:solidFill>
                <a:latin typeface="Bitter Bold" pitchFamily="34" charset="0"/>
                <a:ea typeface="Bitter Bold" pitchFamily="34" charset="-122"/>
                <a:cs typeface="Bitter Bold" pitchFamily="34" charset="-120"/>
              </a:rPr>
              <a:t>Status</a:t>
            </a:r>
            <a:r>
              <a:rPr lang="en-US" sz="1100" dirty="0">
                <a:solidFill>
                  <a:srgbClr val="C2C4B5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 — Pending / Approved / Rejected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417909"/>
            <a:ext cx="4494461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750" b="1" dirty="0">
                <a:solidFill>
                  <a:srgbClr val="E1E5CD"/>
                </a:solidFill>
                <a:latin typeface="Outfit Bold" pitchFamily="34" charset="0"/>
                <a:ea typeface="Outfit Bold" pitchFamily="34" charset="-122"/>
                <a:cs typeface="Outfit Bold" pitchFamily="34" charset="-120"/>
              </a:rPr>
              <a:t>Leave Request Workflow</a:t>
            </a:r>
            <a:endParaRPr lang="en-US" sz="2750" dirty="0"/>
          </a:p>
        </p:txBody>
      </p:sp>
      <p:sp>
        <p:nvSpPr>
          <p:cNvPr id="3" name="Text 1"/>
          <p:cNvSpPr/>
          <p:nvPr/>
        </p:nvSpPr>
        <p:spPr>
          <a:xfrm>
            <a:off x="496119" y="1144414"/>
            <a:ext cx="8608963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C2C4B5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The end-to-end process ensures every leave request is tracked, reviewed, and responded to in a structured manner.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96119" y="1530697"/>
            <a:ext cx="283518" cy="1771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100" dirty="0">
                <a:solidFill>
                  <a:srgbClr val="C2C4B5"/>
                </a:solidFill>
                <a:latin typeface="Outfit Light" pitchFamily="34" charset="0"/>
                <a:ea typeface="Outfit Light" pitchFamily="34" charset="-122"/>
                <a:cs typeface="Outfit Light" pitchFamily="34" charset="-120"/>
              </a:rPr>
              <a:t>01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496119" y="1752600"/>
            <a:ext cx="4004965" cy="19050"/>
          </a:xfrm>
          <a:prstGeom prst="rect">
            <a:avLst/>
          </a:prstGeom>
          <a:solidFill>
            <a:srgbClr val="9FA58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496119" y="1861542"/>
            <a:ext cx="17720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C2C4B5"/>
                </a:solidFill>
                <a:latin typeface="Outfit Bold" pitchFamily="34" charset="0"/>
                <a:ea typeface="Outfit Bold" pitchFamily="34" charset="-122"/>
                <a:cs typeface="Outfit Bold" pitchFamily="34" charset="-120"/>
              </a:rPr>
              <a:t>Employee Logs In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496119" y="2168054"/>
            <a:ext cx="4004965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C2C4B5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Authenticates using secure credentials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642842" y="1530697"/>
            <a:ext cx="283518" cy="1771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100" dirty="0">
                <a:solidFill>
                  <a:srgbClr val="C2C4B5"/>
                </a:solidFill>
                <a:latin typeface="Outfit Light" pitchFamily="34" charset="0"/>
                <a:ea typeface="Outfit Light" pitchFamily="34" charset="-122"/>
                <a:cs typeface="Outfit Light" pitchFamily="34" charset="-120"/>
              </a:rPr>
              <a:t>02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642842" y="1752600"/>
            <a:ext cx="4005039" cy="19050"/>
          </a:xfrm>
          <a:prstGeom prst="rect">
            <a:avLst/>
          </a:prstGeom>
          <a:solidFill>
            <a:srgbClr val="9FA58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4642842" y="1861542"/>
            <a:ext cx="1790774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C2C4B5"/>
                </a:solidFill>
                <a:latin typeface="Outfit Bold" pitchFamily="34" charset="0"/>
                <a:ea typeface="Outfit Bold" pitchFamily="34" charset="-122"/>
                <a:cs typeface="Outfit Bold" pitchFamily="34" charset="-120"/>
              </a:rPr>
              <a:t>Submit Leave Request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4642842" y="2168054"/>
            <a:ext cx="4005039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C2C4B5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Fills in leave type, dates, and reason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96119" y="2642890"/>
            <a:ext cx="283518" cy="1771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100" dirty="0">
                <a:solidFill>
                  <a:srgbClr val="C2C4B5"/>
                </a:solidFill>
                <a:latin typeface="Outfit Light" pitchFamily="34" charset="0"/>
                <a:ea typeface="Outfit Light" pitchFamily="34" charset="-122"/>
                <a:cs typeface="Outfit Light" pitchFamily="34" charset="-120"/>
              </a:rPr>
              <a:t>03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96119" y="2864793"/>
            <a:ext cx="4004965" cy="19050"/>
          </a:xfrm>
          <a:prstGeom prst="rect">
            <a:avLst/>
          </a:prstGeom>
          <a:solidFill>
            <a:srgbClr val="9FA58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496119" y="2973735"/>
            <a:ext cx="17720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C2C4B5"/>
                </a:solidFill>
                <a:latin typeface="Outfit Bold" pitchFamily="34" charset="0"/>
                <a:ea typeface="Outfit Bold" pitchFamily="34" charset="-122"/>
                <a:cs typeface="Outfit Bold" pitchFamily="34" charset="-120"/>
              </a:rPr>
              <a:t>Request Stored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496119" y="3280246"/>
            <a:ext cx="4004965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C2C4B5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Data persisted in MySQL via Repository layer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642842" y="2642890"/>
            <a:ext cx="283518" cy="1771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100" dirty="0">
                <a:solidFill>
                  <a:srgbClr val="C2C4B5"/>
                </a:solidFill>
                <a:latin typeface="Outfit Light" pitchFamily="34" charset="0"/>
                <a:ea typeface="Outfit Light" pitchFamily="34" charset="-122"/>
                <a:cs typeface="Outfit Light" pitchFamily="34" charset="-120"/>
              </a:rPr>
              <a:t>04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642842" y="2864793"/>
            <a:ext cx="4005039" cy="19050"/>
          </a:xfrm>
          <a:prstGeom prst="rect">
            <a:avLst/>
          </a:prstGeom>
          <a:solidFill>
            <a:srgbClr val="9FA58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4642842" y="2973735"/>
            <a:ext cx="17720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C2C4B5"/>
                </a:solidFill>
                <a:latin typeface="Outfit Bold" pitchFamily="34" charset="0"/>
                <a:ea typeface="Outfit Bold" pitchFamily="34" charset="-122"/>
                <a:cs typeface="Outfit Bold" pitchFamily="34" charset="-120"/>
              </a:rPr>
              <a:t>Admin Reviews</a:t>
            </a:r>
            <a:endParaRPr lang="en-US" sz="1350" dirty="0"/>
          </a:p>
        </p:txBody>
      </p:sp>
      <p:sp>
        <p:nvSpPr>
          <p:cNvPr id="19" name="Text 17"/>
          <p:cNvSpPr/>
          <p:nvPr/>
        </p:nvSpPr>
        <p:spPr>
          <a:xfrm>
            <a:off x="4642842" y="3280246"/>
            <a:ext cx="4005039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C2C4B5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Admin views all pending requests in dashboard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496119" y="3755082"/>
            <a:ext cx="283518" cy="1771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100" dirty="0">
                <a:solidFill>
                  <a:srgbClr val="C2C4B5"/>
                </a:solidFill>
                <a:latin typeface="Outfit Light" pitchFamily="34" charset="0"/>
                <a:ea typeface="Outfit Light" pitchFamily="34" charset="-122"/>
                <a:cs typeface="Outfit Light" pitchFamily="34" charset="-120"/>
              </a:rPr>
              <a:t>05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496119" y="3976985"/>
            <a:ext cx="4004965" cy="19050"/>
          </a:xfrm>
          <a:prstGeom prst="rect">
            <a:avLst/>
          </a:prstGeom>
          <a:solidFill>
            <a:srgbClr val="9FA58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496119" y="4085927"/>
            <a:ext cx="17720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C2C4B5"/>
                </a:solidFill>
                <a:latin typeface="Outfit Bold" pitchFamily="34" charset="0"/>
                <a:ea typeface="Outfit Bold" pitchFamily="34" charset="-122"/>
                <a:cs typeface="Outfit Bold" pitchFamily="34" charset="-120"/>
              </a:rPr>
              <a:t>Approve or Reject</a:t>
            </a:r>
            <a:endParaRPr lang="en-US" sz="1350" dirty="0"/>
          </a:p>
        </p:txBody>
      </p:sp>
      <p:sp>
        <p:nvSpPr>
          <p:cNvPr id="23" name="Text 21"/>
          <p:cNvSpPr/>
          <p:nvPr/>
        </p:nvSpPr>
        <p:spPr>
          <a:xfrm>
            <a:off x="496119" y="4392439"/>
            <a:ext cx="4004965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C2C4B5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Admin takes action; status is updated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4642842" y="3755082"/>
            <a:ext cx="283518" cy="1771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100" dirty="0">
                <a:solidFill>
                  <a:srgbClr val="C2C4B5"/>
                </a:solidFill>
                <a:latin typeface="Outfit Light" pitchFamily="34" charset="0"/>
                <a:ea typeface="Outfit Light" pitchFamily="34" charset="-122"/>
                <a:cs typeface="Outfit Light" pitchFamily="34" charset="-120"/>
              </a:rPr>
              <a:t>06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4642842" y="3976985"/>
            <a:ext cx="4005039" cy="19050"/>
          </a:xfrm>
          <a:prstGeom prst="rect">
            <a:avLst/>
          </a:prstGeom>
          <a:solidFill>
            <a:srgbClr val="9FA58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4642842" y="4085927"/>
            <a:ext cx="1973535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C2C4B5"/>
                </a:solidFill>
                <a:latin typeface="Outfit Bold" pitchFamily="34" charset="0"/>
                <a:ea typeface="Outfit Bold" pitchFamily="34" charset="-122"/>
                <a:cs typeface="Outfit Bold" pitchFamily="34" charset="-120"/>
              </a:rPr>
              <a:t>Employee Checks Status</a:t>
            </a:r>
            <a:endParaRPr lang="en-US" sz="1350" dirty="0"/>
          </a:p>
        </p:txBody>
      </p:sp>
      <p:sp>
        <p:nvSpPr>
          <p:cNvPr id="27" name="Text 25"/>
          <p:cNvSpPr/>
          <p:nvPr/>
        </p:nvSpPr>
        <p:spPr>
          <a:xfrm>
            <a:off x="4642842" y="4392439"/>
            <a:ext cx="4005039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C2C4B5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Views updated leave status in real time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400645"/>
            <a:ext cx="3558332" cy="3875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400" b="1" dirty="0">
                <a:solidFill>
                  <a:srgbClr val="E1E5CD"/>
                </a:solidFill>
                <a:latin typeface="Outfit Bold" pitchFamily="34" charset="0"/>
                <a:ea typeface="Outfit Bold" pitchFamily="34" charset="-122"/>
                <a:cs typeface="Outfit Bold" pitchFamily="34" charset="-120"/>
              </a:rPr>
              <a:t>Advantages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496119" y="1005260"/>
            <a:ext cx="4021634" cy="1173510"/>
          </a:xfrm>
          <a:prstGeom prst="roundRect">
            <a:avLst>
              <a:gd name="adj" fmla="val 1586"/>
            </a:avLst>
          </a:prstGeom>
          <a:solidFill>
            <a:srgbClr val="3B3C3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620092" y="1129233"/>
            <a:ext cx="372070" cy="372070"/>
          </a:xfrm>
          <a:prstGeom prst="roundRect">
            <a:avLst>
              <a:gd name="adj" fmla="val 15358477"/>
            </a:avLst>
          </a:prstGeom>
          <a:solidFill>
            <a:srgbClr val="9FA582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22412" y="1231478"/>
            <a:ext cx="167432" cy="167432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620092" y="1609799"/>
            <a:ext cx="1550566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b="1" dirty="0">
                <a:solidFill>
                  <a:srgbClr val="C2C4B5"/>
                </a:solidFill>
                <a:latin typeface="Outfit Bold" pitchFamily="34" charset="0"/>
                <a:ea typeface="Outfit Bold" pitchFamily="34" charset="-122"/>
                <a:cs typeface="Outfit Bold" pitchFamily="34" charset="-120"/>
              </a:rPr>
              <a:t>Paperless Process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620092" y="1868760"/>
            <a:ext cx="3773686" cy="1860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950" dirty="0">
                <a:solidFill>
                  <a:srgbClr val="C2C4B5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Eliminates physical forms and manual filing</a:t>
            </a:r>
            <a:endParaRPr lang="en-US" sz="950" dirty="0"/>
          </a:p>
        </p:txBody>
      </p:sp>
      <p:sp>
        <p:nvSpPr>
          <p:cNvPr id="8" name="Shape 5"/>
          <p:cNvSpPr/>
          <p:nvPr/>
        </p:nvSpPr>
        <p:spPr>
          <a:xfrm>
            <a:off x="4626248" y="1005260"/>
            <a:ext cx="4021634" cy="1173510"/>
          </a:xfrm>
          <a:prstGeom prst="roundRect">
            <a:avLst>
              <a:gd name="adj" fmla="val 1586"/>
            </a:avLst>
          </a:prstGeom>
          <a:solidFill>
            <a:srgbClr val="3B3C3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Shape 6"/>
          <p:cNvSpPr/>
          <p:nvPr/>
        </p:nvSpPr>
        <p:spPr>
          <a:xfrm>
            <a:off x="4750222" y="1129233"/>
            <a:ext cx="372070" cy="372070"/>
          </a:xfrm>
          <a:prstGeom prst="roundRect">
            <a:avLst>
              <a:gd name="adj" fmla="val 15358477"/>
            </a:avLst>
          </a:prstGeom>
          <a:solidFill>
            <a:srgbClr val="9FA582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852541" y="1231478"/>
            <a:ext cx="167432" cy="167432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4750222" y="1609799"/>
            <a:ext cx="1550566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b="1" dirty="0">
                <a:solidFill>
                  <a:srgbClr val="C2C4B5"/>
                </a:solidFill>
                <a:latin typeface="Outfit Bold" pitchFamily="34" charset="0"/>
                <a:ea typeface="Outfit Bold" pitchFamily="34" charset="-122"/>
                <a:cs typeface="Outfit Bold" pitchFamily="34" charset="-120"/>
              </a:rPr>
              <a:t>Secure Access</a:t>
            </a:r>
            <a:endParaRPr lang="en-US" sz="1200" dirty="0"/>
          </a:p>
        </p:txBody>
      </p:sp>
      <p:sp>
        <p:nvSpPr>
          <p:cNvPr id="12" name="Text 8"/>
          <p:cNvSpPr/>
          <p:nvPr/>
        </p:nvSpPr>
        <p:spPr>
          <a:xfrm>
            <a:off x="4750222" y="1868760"/>
            <a:ext cx="3773686" cy="1860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950" dirty="0">
                <a:solidFill>
                  <a:srgbClr val="C2C4B5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Spring Security protects all endpoints and data</a:t>
            </a:r>
            <a:endParaRPr lang="en-US" sz="950" dirty="0"/>
          </a:p>
        </p:txBody>
      </p:sp>
      <p:sp>
        <p:nvSpPr>
          <p:cNvPr id="13" name="Shape 9"/>
          <p:cNvSpPr/>
          <p:nvPr/>
        </p:nvSpPr>
        <p:spPr>
          <a:xfrm>
            <a:off x="496119" y="2287265"/>
            <a:ext cx="4021634" cy="1173510"/>
          </a:xfrm>
          <a:prstGeom prst="roundRect">
            <a:avLst>
              <a:gd name="adj" fmla="val 1586"/>
            </a:avLst>
          </a:prstGeom>
          <a:solidFill>
            <a:srgbClr val="3B3C3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Shape 10"/>
          <p:cNvSpPr/>
          <p:nvPr/>
        </p:nvSpPr>
        <p:spPr>
          <a:xfrm>
            <a:off x="620092" y="2411239"/>
            <a:ext cx="372070" cy="372070"/>
          </a:xfrm>
          <a:prstGeom prst="roundRect">
            <a:avLst>
              <a:gd name="adj" fmla="val 15358477"/>
            </a:avLst>
          </a:prstGeom>
          <a:solidFill>
            <a:srgbClr val="9FA582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5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722412" y="2513484"/>
            <a:ext cx="167432" cy="167432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620092" y="2891805"/>
            <a:ext cx="1550566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b="1" dirty="0">
                <a:solidFill>
                  <a:srgbClr val="C2C4B5"/>
                </a:solidFill>
                <a:latin typeface="Outfit Bold" pitchFamily="34" charset="0"/>
                <a:ea typeface="Outfit Bold" pitchFamily="34" charset="-122"/>
                <a:cs typeface="Outfit Bold" pitchFamily="34" charset="-120"/>
              </a:rPr>
              <a:t>Faster Approvals</a:t>
            </a:r>
            <a:endParaRPr lang="en-US" sz="1200" dirty="0"/>
          </a:p>
        </p:txBody>
      </p:sp>
      <p:sp>
        <p:nvSpPr>
          <p:cNvPr id="17" name="Text 12"/>
          <p:cNvSpPr/>
          <p:nvPr/>
        </p:nvSpPr>
        <p:spPr>
          <a:xfrm>
            <a:off x="620092" y="3150766"/>
            <a:ext cx="3773686" cy="1860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950" dirty="0">
                <a:solidFill>
                  <a:srgbClr val="C2C4B5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Digital workflow reduces turnaround time</a:t>
            </a:r>
            <a:endParaRPr lang="en-US" sz="950" dirty="0"/>
          </a:p>
        </p:txBody>
      </p:sp>
      <p:sp>
        <p:nvSpPr>
          <p:cNvPr id="18" name="Shape 13"/>
          <p:cNvSpPr/>
          <p:nvPr/>
        </p:nvSpPr>
        <p:spPr>
          <a:xfrm>
            <a:off x="4626248" y="2287265"/>
            <a:ext cx="4021634" cy="1173510"/>
          </a:xfrm>
          <a:prstGeom prst="roundRect">
            <a:avLst>
              <a:gd name="adj" fmla="val 1586"/>
            </a:avLst>
          </a:prstGeom>
          <a:solidFill>
            <a:srgbClr val="3B3C3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Shape 14"/>
          <p:cNvSpPr/>
          <p:nvPr/>
        </p:nvSpPr>
        <p:spPr>
          <a:xfrm>
            <a:off x="4750222" y="2411239"/>
            <a:ext cx="372070" cy="372070"/>
          </a:xfrm>
          <a:prstGeom prst="roundRect">
            <a:avLst>
              <a:gd name="adj" fmla="val 15358477"/>
            </a:avLst>
          </a:prstGeom>
          <a:solidFill>
            <a:srgbClr val="9FA582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0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852541" y="2513484"/>
            <a:ext cx="167432" cy="167432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4750222" y="2891805"/>
            <a:ext cx="1550566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b="1" dirty="0">
                <a:solidFill>
                  <a:srgbClr val="C2C4B5"/>
                </a:solidFill>
                <a:latin typeface="Outfit Bold" pitchFamily="34" charset="0"/>
                <a:ea typeface="Outfit Bold" pitchFamily="34" charset="-122"/>
                <a:cs typeface="Outfit Bold" pitchFamily="34" charset="-120"/>
              </a:rPr>
              <a:t>Accuracy &amp; Efficiency</a:t>
            </a:r>
            <a:endParaRPr lang="en-US" sz="1200" dirty="0"/>
          </a:p>
        </p:txBody>
      </p:sp>
      <p:sp>
        <p:nvSpPr>
          <p:cNvPr id="22" name="Text 16"/>
          <p:cNvSpPr/>
          <p:nvPr/>
        </p:nvSpPr>
        <p:spPr>
          <a:xfrm>
            <a:off x="4750222" y="3150766"/>
            <a:ext cx="3773686" cy="1860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950" dirty="0">
                <a:solidFill>
                  <a:srgbClr val="C2C4B5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Automated validation minimises human error</a:t>
            </a:r>
            <a:endParaRPr lang="en-US" sz="950" dirty="0"/>
          </a:p>
        </p:txBody>
      </p:sp>
      <p:sp>
        <p:nvSpPr>
          <p:cNvPr id="23" name="Shape 17"/>
          <p:cNvSpPr/>
          <p:nvPr/>
        </p:nvSpPr>
        <p:spPr>
          <a:xfrm>
            <a:off x="496119" y="3569271"/>
            <a:ext cx="4021634" cy="1173510"/>
          </a:xfrm>
          <a:prstGeom prst="roundRect">
            <a:avLst>
              <a:gd name="adj" fmla="val 1586"/>
            </a:avLst>
          </a:prstGeom>
          <a:solidFill>
            <a:srgbClr val="3B3C3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4" name="Shape 18"/>
          <p:cNvSpPr/>
          <p:nvPr/>
        </p:nvSpPr>
        <p:spPr>
          <a:xfrm>
            <a:off x="620092" y="3693244"/>
            <a:ext cx="372070" cy="372070"/>
          </a:xfrm>
          <a:prstGeom prst="roundRect">
            <a:avLst>
              <a:gd name="adj" fmla="val 15358477"/>
            </a:avLst>
          </a:prstGeom>
          <a:solidFill>
            <a:srgbClr val="9FA582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5" name="Image 4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722412" y="3795489"/>
            <a:ext cx="167432" cy="167432"/>
          </a:xfrm>
          <a:prstGeom prst="rect">
            <a:avLst/>
          </a:prstGeom>
        </p:spPr>
      </p:pic>
      <p:sp>
        <p:nvSpPr>
          <p:cNvPr id="26" name="Text 19"/>
          <p:cNvSpPr/>
          <p:nvPr/>
        </p:nvSpPr>
        <p:spPr>
          <a:xfrm>
            <a:off x="620092" y="4173810"/>
            <a:ext cx="1550566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b="1" dirty="0">
                <a:solidFill>
                  <a:srgbClr val="C2C4B5"/>
                </a:solidFill>
                <a:latin typeface="Outfit Bold" pitchFamily="34" charset="0"/>
                <a:ea typeface="Outfit Bold" pitchFamily="34" charset="-122"/>
                <a:cs typeface="Outfit Bold" pitchFamily="34" charset="-120"/>
              </a:rPr>
              <a:t>Easy Tracking</a:t>
            </a:r>
            <a:endParaRPr lang="en-US" sz="1200" dirty="0"/>
          </a:p>
        </p:txBody>
      </p:sp>
      <p:sp>
        <p:nvSpPr>
          <p:cNvPr id="27" name="Text 20"/>
          <p:cNvSpPr/>
          <p:nvPr/>
        </p:nvSpPr>
        <p:spPr>
          <a:xfrm>
            <a:off x="620092" y="4432771"/>
            <a:ext cx="3773686" cy="1860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950" dirty="0">
                <a:solidFill>
                  <a:srgbClr val="C2C4B5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Real-time leave status visible to all stakeholders</a:t>
            </a:r>
            <a:endParaRPr lang="en-US" sz="950" dirty="0"/>
          </a:p>
        </p:txBody>
      </p:sp>
      <p:sp>
        <p:nvSpPr>
          <p:cNvPr id="28" name="Shape 21"/>
          <p:cNvSpPr/>
          <p:nvPr/>
        </p:nvSpPr>
        <p:spPr>
          <a:xfrm>
            <a:off x="4626248" y="3569271"/>
            <a:ext cx="4021634" cy="1173510"/>
          </a:xfrm>
          <a:prstGeom prst="roundRect">
            <a:avLst>
              <a:gd name="adj" fmla="val 1586"/>
            </a:avLst>
          </a:prstGeom>
          <a:solidFill>
            <a:srgbClr val="3B3C3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9" name="Shape 22"/>
          <p:cNvSpPr/>
          <p:nvPr/>
        </p:nvSpPr>
        <p:spPr>
          <a:xfrm>
            <a:off x="4750222" y="3693244"/>
            <a:ext cx="372070" cy="372070"/>
          </a:xfrm>
          <a:prstGeom prst="roundRect">
            <a:avLst>
              <a:gd name="adj" fmla="val 15358477"/>
            </a:avLst>
          </a:prstGeom>
          <a:solidFill>
            <a:srgbClr val="9FA582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30" name="Image 5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4852541" y="3795489"/>
            <a:ext cx="167432" cy="167432"/>
          </a:xfrm>
          <a:prstGeom prst="rect">
            <a:avLst/>
          </a:prstGeom>
        </p:spPr>
      </p:pic>
      <p:sp>
        <p:nvSpPr>
          <p:cNvPr id="31" name="Text 23"/>
          <p:cNvSpPr/>
          <p:nvPr/>
        </p:nvSpPr>
        <p:spPr>
          <a:xfrm>
            <a:off x="4750222" y="4173810"/>
            <a:ext cx="1550566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b="1" dirty="0">
                <a:solidFill>
                  <a:srgbClr val="C2C4B5"/>
                </a:solidFill>
                <a:latin typeface="Outfit Bold" pitchFamily="34" charset="0"/>
                <a:ea typeface="Outfit Bold" pitchFamily="34" charset="-122"/>
                <a:cs typeface="Outfit Bold" pitchFamily="34" charset="-120"/>
              </a:rPr>
              <a:t>Centralised Records</a:t>
            </a:r>
            <a:endParaRPr lang="en-US" sz="1200" dirty="0"/>
          </a:p>
        </p:txBody>
      </p:sp>
      <p:sp>
        <p:nvSpPr>
          <p:cNvPr id="32" name="Text 24"/>
          <p:cNvSpPr/>
          <p:nvPr/>
        </p:nvSpPr>
        <p:spPr>
          <a:xfrm>
            <a:off x="4750222" y="4432771"/>
            <a:ext cx="3773686" cy="1860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950" dirty="0">
                <a:solidFill>
                  <a:srgbClr val="C2C4B5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All leave data stored in one secure location</a:t>
            </a:r>
            <a:endParaRPr lang="en-US" sz="9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406822"/>
            <a:ext cx="4384849" cy="4083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550" b="1" dirty="0">
                <a:solidFill>
                  <a:srgbClr val="E1E5CD"/>
                </a:solidFill>
                <a:latin typeface="Outfit Bold" pitchFamily="34" charset="0"/>
                <a:ea typeface="Outfit Bold" pitchFamily="34" charset="-122"/>
                <a:cs typeface="Outfit Bold" pitchFamily="34" charset="-120"/>
              </a:rPr>
              <a:t>Conclusion &amp; Future Scope</a:t>
            </a:r>
            <a:endParaRPr lang="en-US" sz="2550" dirty="0"/>
          </a:p>
        </p:txBody>
      </p:sp>
      <p:sp>
        <p:nvSpPr>
          <p:cNvPr id="3" name="Text 1"/>
          <p:cNvSpPr/>
          <p:nvPr/>
        </p:nvSpPr>
        <p:spPr>
          <a:xfrm>
            <a:off x="496119" y="1116360"/>
            <a:ext cx="2090812" cy="2041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50" b="1" dirty="0">
                <a:solidFill>
                  <a:srgbClr val="E1E5CD"/>
                </a:solidFill>
                <a:latin typeface="Outfit Bold" pitchFamily="34" charset="0"/>
                <a:ea typeface="Outfit Bold" pitchFamily="34" charset="-122"/>
                <a:cs typeface="Outfit Bold" pitchFamily="34" charset="-120"/>
              </a:rPr>
              <a:t>What We Built</a:t>
            </a:r>
            <a:endParaRPr lang="en-US" sz="1250" dirty="0"/>
          </a:p>
        </p:txBody>
      </p:sp>
      <p:sp>
        <p:nvSpPr>
          <p:cNvPr id="4" name="Text 2"/>
          <p:cNvSpPr/>
          <p:nvPr/>
        </p:nvSpPr>
        <p:spPr>
          <a:xfrm>
            <a:off x="496119" y="1440954"/>
            <a:ext cx="3916487" cy="80337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1000" dirty="0">
                <a:solidFill>
                  <a:srgbClr val="C2C4B5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The Leave Management System successfully automates the complete leave lifecycle — from employee submission to admin approval — using a robust Spring Boot backend, secure authentication, and a clean layered architecture.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4642098" y="995883"/>
            <a:ext cx="4104605" cy="2637234"/>
          </a:xfrm>
          <a:prstGeom prst="roundRect">
            <a:avLst>
              <a:gd name="adj" fmla="val 743"/>
            </a:avLst>
          </a:prstGeom>
          <a:solidFill>
            <a:srgbClr val="9FA58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4772769" y="1116360"/>
            <a:ext cx="2092300" cy="2041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50" b="1" dirty="0">
                <a:solidFill>
                  <a:srgbClr val="000000"/>
                </a:solidFill>
                <a:latin typeface="Outfit Bold" pitchFamily="34" charset="0"/>
                <a:ea typeface="Outfit Bold" pitchFamily="34" charset="-122"/>
                <a:cs typeface="Outfit Bold" pitchFamily="34" charset="-120"/>
              </a:rPr>
              <a:t>Future Enhancements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4772769" y="1440954"/>
            <a:ext cx="3843263" cy="13314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203200" indent="-203200" algn="l">
              <a:lnSpc>
                <a:spcPct val="128000"/>
              </a:lnSpc>
              <a:buSzPct val="100000"/>
              <a:buChar char="•"/>
            </a:pPr>
            <a:r>
              <a:rPr lang="en-US" sz="1000" b="1" dirty="0">
                <a:solidFill>
                  <a:srgbClr val="000000"/>
                </a:solidFill>
                <a:latin typeface="Bitter Bold" pitchFamily="34" charset="0"/>
                <a:ea typeface="Bitter Bold" pitchFamily="34" charset="-122"/>
                <a:cs typeface="Bitter Bold" pitchFamily="34" charset="-120"/>
              </a:rPr>
              <a:t>Email Notifications</a:t>
            </a:r>
            <a:r>
              <a:rPr lang="en-US" sz="1000" dirty="0">
                <a:solidFill>
                  <a:srgbClr val="000000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 — Alert employees on approval or rejection</a:t>
            </a:r>
            <a:endParaRPr lang="en-US" sz="1000" dirty="0"/>
          </a:p>
          <a:p>
            <a:pPr marL="203200" indent="-203200" algn="l">
              <a:lnSpc>
                <a:spcPct val="128000"/>
              </a:lnSpc>
              <a:buSzPct val="100000"/>
              <a:buChar char="•"/>
            </a:pPr>
            <a:r>
              <a:rPr lang="en-US" sz="1000" b="1" dirty="0">
                <a:solidFill>
                  <a:srgbClr val="000000"/>
                </a:solidFill>
                <a:latin typeface="Bitter Bold" pitchFamily="34" charset="0"/>
                <a:ea typeface="Bitter Bold" pitchFamily="34" charset="-122"/>
                <a:cs typeface="Bitter Bold" pitchFamily="34" charset="-120"/>
              </a:rPr>
              <a:t>Leave Reports</a:t>
            </a:r>
            <a:r>
              <a:rPr lang="en-US" sz="1000" dirty="0">
                <a:solidFill>
                  <a:srgbClr val="000000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 — Generate summary reports for HR</a:t>
            </a:r>
            <a:endParaRPr lang="en-US" sz="1000" dirty="0"/>
          </a:p>
          <a:p>
            <a:pPr marL="203200" indent="-203200" algn="l">
              <a:lnSpc>
                <a:spcPct val="128000"/>
              </a:lnSpc>
              <a:buSzPct val="100000"/>
              <a:buChar char="•"/>
            </a:pPr>
            <a:r>
              <a:rPr lang="en-US" sz="1000" b="1" dirty="0">
                <a:solidFill>
                  <a:srgbClr val="000000"/>
                </a:solidFill>
                <a:latin typeface="Bitter Bold" pitchFamily="34" charset="0"/>
                <a:ea typeface="Bitter Bold" pitchFamily="34" charset="-122"/>
                <a:cs typeface="Bitter Bold" pitchFamily="34" charset="-120"/>
              </a:rPr>
              <a:t>Dashboard Analytics</a:t>
            </a:r>
            <a:r>
              <a:rPr lang="en-US" sz="1000" dirty="0">
                <a:solidFill>
                  <a:srgbClr val="000000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 — Visualise leave trends and balances</a:t>
            </a:r>
            <a:endParaRPr lang="en-US" sz="1000" dirty="0"/>
          </a:p>
          <a:p>
            <a:pPr marL="203200" indent="-203200" algn="l">
              <a:lnSpc>
                <a:spcPct val="128000"/>
              </a:lnSpc>
              <a:buSzPct val="100000"/>
              <a:buChar char="•"/>
            </a:pPr>
            <a:r>
              <a:rPr lang="en-US" sz="1000" b="1" dirty="0">
                <a:solidFill>
                  <a:srgbClr val="000000"/>
                </a:solidFill>
                <a:latin typeface="Bitter Bold" pitchFamily="34" charset="0"/>
                <a:ea typeface="Bitter Bold" pitchFamily="34" charset="-122"/>
                <a:cs typeface="Bitter Bold" pitchFamily="34" charset="-120"/>
              </a:rPr>
              <a:t>Leave Balance Tracking</a:t>
            </a:r>
            <a:r>
              <a:rPr lang="en-US" sz="1000" dirty="0">
                <a:solidFill>
                  <a:srgbClr val="000000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 — Auto-calculate remaining leave days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4772769" y="2940546"/>
            <a:ext cx="3843263" cy="14288"/>
          </a:xfrm>
          <a:prstGeom prst="roundRect">
            <a:avLst>
              <a:gd name="adj" fmla="val 59998"/>
            </a:avLst>
          </a:prstGeom>
          <a:solidFill>
            <a:srgbClr val="000000">
              <a:alpha val="5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4772769" y="3123009"/>
            <a:ext cx="3843263" cy="40168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1000" b="1" dirty="0">
                <a:solidFill>
                  <a:srgbClr val="000000"/>
                </a:solidFill>
                <a:latin typeface="Bitter Bold" pitchFamily="34" charset="0"/>
                <a:ea typeface="Bitter Bold" pitchFamily="34" charset="-122"/>
                <a:cs typeface="Bitter Bold" pitchFamily="34" charset="-120"/>
              </a:rPr>
              <a:t>Thank You</a:t>
            </a:r>
            <a:endParaRPr lang="en-US" sz="1000" dirty="0"/>
          </a:p>
          <a:p>
            <a:pPr marL="0" indent="0" algn="l">
              <a:lnSpc>
                <a:spcPct val="128000"/>
              </a:lnSpc>
              <a:buNone/>
            </a:pPr>
            <a:r>
              <a:rPr lang="en-US" sz="1000" dirty="0">
                <a:solidFill>
                  <a:srgbClr val="000000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Presented by </a:t>
            </a:r>
            <a:r>
              <a:rPr lang="en-US" sz="1000" b="1" dirty="0">
                <a:solidFill>
                  <a:srgbClr val="000000"/>
                </a:solidFill>
                <a:latin typeface="Bitter Bold" pitchFamily="34" charset="0"/>
                <a:ea typeface="Bitter Bold" pitchFamily="34" charset="-122"/>
                <a:cs typeface="Bitter Bold" pitchFamily="34" charset="-120"/>
              </a:rPr>
              <a:t>K. Vijay Kumar</a:t>
            </a:r>
            <a:r>
              <a:rPr lang="en-US" sz="1000" dirty="0">
                <a:solidFill>
                  <a:srgbClr val="000000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 | Reg No: 23AK1A30B6 | AI&amp;DS</a:t>
            </a:r>
            <a:endParaRPr lang="en-US" sz="1000" dirty="0"/>
          </a:p>
        </p:txBody>
      </p:sp>
      <p:pic>
        <p:nvPicPr>
          <p:cNvPr id="10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81831" y="3768626"/>
            <a:ext cx="2651224" cy="967978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683940" y="3913584"/>
            <a:ext cx="1695971" cy="2041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50" b="1" dirty="0">
                <a:solidFill>
                  <a:srgbClr val="C2C4B5"/>
                </a:solidFill>
                <a:latin typeface="Outfit Bold" pitchFamily="34" charset="0"/>
                <a:ea typeface="Outfit Bold" pitchFamily="34" charset="-122"/>
                <a:cs typeface="Outfit Bold" pitchFamily="34" charset="-120"/>
              </a:rPr>
              <a:t>Automated Workflows</a:t>
            </a:r>
            <a:endParaRPr lang="en-US" sz="1250" dirty="0"/>
          </a:p>
        </p:txBody>
      </p:sp>
      <p:sp>
        <p:nvSpPr>
          <p:cNvPr id="12" name="Text 9"/>
          <p:cNvSpPr/>
          <p:nvPr/>
        </p:nvSpPr>
        <p:spPr>
          <a:xfrm>
            <a:off x="683940" y="4189958"/>
            <a:ext cx="2304157" cy="2008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1000" dirty="0">
                <a:solidFill>
                  <a:srgbClr val="C2C4B5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End-to-end digital leave processing</a:t>
            </a:r>
            <a:endParaRPr lang="en-US" sz="1000" dirty="0"/>
          </a:p>
        </p:txBody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239244" y="3768626"/>
            <a:ext cx="2651224" cy="967978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3441353" y="3913584"/>
            <a:ext cx="1633612" cy="2041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50" b="1" dirty="0">
                <a:solidFill>
                  <a:srgbClr val="C2C4B5"/>
                </a:solidFill>
                <a:latin typeface="Outfit Bold" pitchFamily="34" charset="0"/>
                <a:ea typeface="Outfit Bold" pitchFamily="34" charset="-122"/>
                <a:cs typeface="Outfit Bold" pitchFamily="34" charset="-120"/>
              </a:rPr>
              <a:t>Role-Based Security</a:t>
            </a:r>
            <a:endParaRPr lang="en-US" sz="1250" dirty="0"/>
          </a:p>
        </p:txBody>
      </p:sp>
      <p:sp>
        <p:nvSpPr>
          <p:cNvPr id="15" name="Text 11"/>
          <p:cNvSpPr/>
          <p:nvPr/>
        </p:nvSpPr>
        <p:spPr>
          <a:xfrm>
            <a:off x="3441353" y="4189958"/>
            <a:ext cx="2304157" cy="40168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1000" dirty="0">
                <a:solidFill>
                  <a:srgbClr val="C2C4B5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Spring Security with EMPLOYEE / ADMIN roles</a:t>
            </a:r>
            <a:endParaRPr lang="en-US" sz="1000" dirty="0"/>
          </a:p>
        </p:txBody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996657" y="3768626"/>
            <a:ext cx="2651224" cy="967978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6198766" y="3913584"/>
            <a:ext cx="1633612" cy="2041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50" b="1" dirty="0">
                <a:solidFill>
                  <a:srgbClr val="C2C4B5"/>
                </a:solidFill>
                <a:latin typeface="Outfit Bold" pitchFamily="34" charset="0"/>
                <a:ea typeface="Outfit Bold" pitchFamily="34" charset="-122"/>
                <a:cs typeface="Outfit Bold" pitchFamily="34" charset="-120"/>
              </a:rPr>
              <a:t>Scalable Architecture</a:t>
            </a:r>
            <a:endParaRPr lang="en-US" sz="1250" dirty="0"/>
          </a:p>
        </p:txBody>
      </p:sp>
      <p:sp>
        <p:nvSpPr>
          <p:cNvPr id="18" name="Text 13"/>
          <p:cNvSpPr/>
          <p:nvPr/>
        </p:nvSpPr>
        <p:spPr>
          <a:xfrm>
            <a:off x="6198766" y="4189958"/>
            <a:ext cx="2304157" cy="2008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1000" dirty="0">
                <a:solidFill>
                  <a:srgbClr val="C2C4B5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Layered design ready for extension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360045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925119" y="390227"/>
            <a:ext cx="3378101" cy="3529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200" b="1" dirty="0">
                <a:solidFill>
                  <a:srgbClr val="E1E5CD"/>
                </a:solidFill>
                <a:latin typeface="Outfit Bold" pitchFamily="34" charset="0"/>
                <a:ea typeface="Outfit Bold" pitchFamily="34" charset="-122"/>
                <a:cs typeface="Outfit Bold" pitchFamily="34" charset="-120"/>
              </a:rPr>
              <a:t>Challenges &amp; Solutions</a:t>
            </a:r>
            <a:endParaRPr lang="en-US" sz="2200" dirty="0"/>
          </a:p>
        </p:txBody>
      </p:sp>
      <p:sp>
        <p:nvSpPr>
          <p:cNvPr id="4" name="Text 1"/>
          <p:cNvSpPr/>
          <p:nvPr/>
        </p:nvSpPr>
        <p:spPr>
          <a:xfrm>
            <a:off x="3925119" y="878160"/>
            <a:ext cx="4722763" cy="32474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850" dirty="0">
                <a:solidFill>
                  <a:srgbClr val="C2C4B5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The Leave Management System directly addresses pain points of traditional, manual processes, offering clear advantages.</a:t>
            </a:r>
            <a:endParaRPr lang="en-US" sz="850" dirty="0"/>
          </a:p>
        </p:txBody>
      </p:sp>
      <p:pic>
        <p:nvPicPr>
          <p:cNvPr id="5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910831" y="1304106"/>
            <a:ext cx="2330648" cy="972071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4095229" y="1431354"/>
            <a:ext cx="1957015" cy="1765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00" b="1" dirty="0">
                <a:solidFill>
                  <a:srgbClr val="C2C4B5"/>
                </a:solidFill>
                <a:latin typeface="Outfit Bold" pitchFamily="34" charset="0"/>
                <a:ea typeface="Outfit Bold" pitchFamily="34" charset="-122"/>
                <a:cs typeface="Outfit Bold" pitchFamily="34" charset="-120"/>
              </a:rPr>
              <a:t>Manual Paperwork Eliminated</a:t>
            </a:r>
            <a:endParaRPr lang="en-US" sz="1100" dirty="0"/>
          </a:p>
        </p:txBody>
      </p:sp>
      <p:sp>
        <p:nvSpPr>
          <p:cNvPr id="7" name="Text 3"/>
          <p:cNvSpPr/>
          <p:nvPr/>
        </p:nvSpPr>
        <p:spPr>
          <a:xfrm>
            <a:off x="4095229" y="1661815"/>
            <a:ext cx="2019002" cy="4871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850" dirty="0">
                <a:solidFill>
                  <a:srgbClr val="C2C4B5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No more lost forms or endless printing. The system digitizes applications and records.</a:t>
            </a:r>
            <a:endParaRPr lang="en-US" sz="850" dirty="0"/>
          </a:p>
        </p:txBody>
      </p:sp>
      <p:pic>
        <p:nvPicPr>
          <p:cNvPr id="8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317159" y="1304106"/>
            <a:ext cx="2330723" cy="972071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6501557" y="1431354"/>
            <a:ext cx="1843311" cy="1765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00" b="1" dirty="0">
                <a:solidFill>
                  <a:srgbClr val="C2C4B5"/>
                </a:solidFill>
                <a:latin typeface="Outfit Bold" pitchFamily="34" charset="0"/>
                <a:ea typeface="Outfit Bold" pitchFamily="34" charset="-122"/>
                <a:cs typeface="Outfit Bold" pitchFamily="34" charset="-120"/>
              </a:rPr>
              <a:t>Accurate &amp; Centralized Data</a:t>
            </a:r>
            <a:endParaRPr lang="en-US" sz="1100" dirty="0"/>
          </a:p>
        </p:txBody>
      </p:sp>
      <p:sp>
        <p:nvSpPr>
          <p:cNvPr id="10" name="Text 5"/>
          <p:cNvSpPr/>
          <p:nvPr/>
        </p:nvSpPr>
        <p:spPr>
          <a:xfrm>
            <a:off x="6501557" y="1661815"/>
            <a:ext cx="2019077" cy="4871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850" dirty="0">
                <a:solidFill>
                  <a:srgbClr val="C2C4B5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All leave history is securely stored and easily accessible, preventing inconsistencies.</a:t>
            </a:r>
            <a:endParaRPr lang="en-US" sz="850" dirty="0"/>
          </a:p>
        </p:txBody>
      </p:sp>
      <p:pic>
        <p:nvPicPr>
          <p:cNvPr id="11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3910831" y="2366144"/>
            <a:ext cx="2330648" cy="1148581"/>
          </a:xfrm>
          <a:prstGeom prst="rect">
            <a:avLst/>
          </a:prstGeom>
        </p:spPr>
      </p:pic>
      <p:sp>
        <p:nvSpPr>
          <p:cNvPr id="12" name="Text 6"/>
          <p:cNvSpPr/>
          <p:nvPr/>
        </p:nvSpPr>
        <p:spPr>
          <a:xfrm>
            <a:off x="4095229" y="2493392"/>
            <a:ext cx="2019002" cy="3530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00" b="1" dirty="0">
                <a:solidFill>
                  <a:srgbClr val="C2C4B5"/>
                </a:solidFill>
                <a:latin typeface="Outfit Bold" pitchFamily="34" charset="0"/>
                <a:ea typeface="Outfit Bold" pitchFamily="34" charset="-122"/>
                <a:cs typeface="Outfit Bold" pitchFamily="34" charset="-120"/>
              </a:rPr>
              <a:t>Faster Approvals &amp; Transparency</a:t>
            </a:r>
            <a:endParaRPr lang="en-US" sz="1100" dirty="0"/>
          </a:p>
        </p:txBody>
      </p:sp>
      <p:sp>
        <p:nvSpPr>
          <p:cNvPr id="13" name="Text 7"/>
          <p:cNvSpPr/>
          <p:nvPr/>
        </p:nvSpPr>
        <p:spPr>
          <a:xfrm>
            <a:off x="4095229" y="2900363"/>
            <a:ext cx="2019002" cy="4871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850" dirty="0">
                <a:solidFill>
                  <a:srgbClr val="C2C4B5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Automated workflows ensure prompt review and clear status updates for employees and admins.</a:t>
            </a:r>
            <a:endParaRPr lang="en-US" sz="850" dirty="0"/>
          </a:p>
        </p:txBody>
      </p:sp>
      <p:pic>
        <p:nvPicPr>
          <p:cNvPr id="14" name="Image 4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317159" y="2366144"/>
            <a:ext cx="2330723" cy="1148581"/>
          </a:xfrm>
          <a:prstGeom prst="rect">
            <a:avLst/>
          </a:prstGeom>
        </p:spPr>
      </p:pic>
      <p:sp>
        <p:nvSpPr>
          <p:cNvPr id="15" name="Text 8"/>
          <p:cNvSpPr/>
          <p:nvPr/>
        </p:nvSpPr>
        <p:spPr>
          <a:xfrm>
            <a:off x="6501557" y="2493392"/>
            <a:ext cx="2019077" cy="3530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00" b="1" dirty="0">
                <a:solidFill>
                  <a:srgbClr val="C2C4B5"/>
                </a:solidFill>
                <a:latin typeface="Outfit Bold" pitchFamily="34" charset="0"/>
                <a:ea typeface="Outfit Bold" pitchFamily="34" charset="-122"/>
                <a:cs typeface="Outfit Bold" pitchFamily="34" charset="-120"/>
              </a:rPr>
              <a:t>Enhanced Security &amp; Access Control</a:t>
            </a:r>
            <a:endParaRPr lang="en-US" sz="1100" dirty="0"/>
          </a:p>
        </p:txBody>
      </p:sp>
      <p:sp>
        <p:nvSpPr>
          <p:cNvPr id="16" name="Text 9"/>
          <p:cNvSpPr/>
          <p:nvPr/>
        </p:nvSpPr>
        <p:spPr>
          <a:xfrm>
            <a:off x="6501557" y="2900363"/>
            <a:ext cx="2019077" cy="4871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850" dirty="0">
                <a:solidFill>
                  <a:srgbClr val="C2C4B5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Role-based security prevents unauthorized access and ensures data integrity.</a:t>
            </a:r>
            <a:endParaRPr lang="en-US" sz="850" dirty="0"/>
          </a:p>
        </p:txBody>
      </p:sp>
      <p:pic>
        <p:nvPicPr>
          <p:cNvPr id="17" name="Image 5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3910831" y="3604692"/>
            <a:ext cx="2330648" cy="1148581"/>
          </a:xfrm>
          <a:prstGeom prst="rect">
            <a:avLst/>
          </a:prstGeom>
        </p:spPr>
      </p:pic>
      <p:sp>
        <p:nvSpPr>
          <p:cNvPr id="18" name="Text 10"/>
          <p:cNvSpPr/>
          <p:nvPr/>
        </p:nvSpPr>
        <p:spPr>
          <a:xfrm>
            <a:off x="4095229" y="3731940"/>
            <a:ext cx="2019002" cy="3530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00" b="1" dirty="0">
                <a:solidFill>
                  <a:srgbClr val="C2C4B5"/>
                </a:solidFill>
                <a:latin typeface="Outfit Bold" pitchFamily="34" charset="0"/>
                <a:ea typeface="Outfit Bold" pitchFamily="34" charset="-122"/>
                <a:cs typeface="Outfit Bold" pitchFamily="34" charset="-120"/>
              </a:rPr>
              <a:t>Reduced Administrative Burden</a:t>
            </a:r>
            <a:endParaRPr lang="en-US" sz="1100" dirty="0"/>
          </a:p>
        </p:txBody>
      </p:sp>
      <p:sp>
        <p:nvSpPr>
          <p:cNvPr id="19" name="Text 11"/>
          <p:cNvSpPr/>
          <p:nvPr/>
        </p:nvSpPr>
        <p:spPr>
          <a:xfrm>
            <a:off x="4095229" y="4138910"/>
            <a:ext cx="2019002" cy="4871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850" dirty="0">
                <a:solidFill>
                  <a:srgbClr val="C2C4B5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Automating routine tasks frees up HR and management for more strategic activities.</a:t>
            </a:r>
            <a:endParaRPr lang="en-US" sz="8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43550" y="0"/>
            <a:ext cx="360045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96119" y="394990"/>
            <a:ext cx="3914849" cy="3391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100" b="1" dirty="0">
                <a:solidFill>
                  <a:srgbClr val="E1E5CD"/>
                </a:solidFill>
                <a:latin typeface="Outfit Bold" pitchFamily="34" charset="0"/>
                <a:ea typeface="Outfit Bold" pitchFamily="34" charset="-122"/>
                <a:cs typeface="Outfit Bold" pitchFamily="34" charset="-120"/>
              </a:rPr>
              <a:t>Testing &amp; Quality Assurance</a:t>
            </a:r>
            <a:endParaRPr lang="en-US" sz="2100" dirty="0"/>
          </a:p>
        </p:txBody>
      </p:sp>
      <p:sp>
        <p:nvSpPr>
          <p:cNvPr id="4" name="Text 1"/>
          <p:cNvSpPr/>
          <p:nvPr/>
        </p:nvSpPr>
        <p:spPr>
          <a:xfrm>
            <a:off x="496119" y="858813"/>
            <a:ext cx="4722763" cy="30658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850" dirty="0">
                <a:solidFill>
                  <a:srgbClr val="C2C4B5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Robust testing is crucial to ensure the Leave Management System operates flawlessly, providing a reliable and secure experience for all users.</a:t>
            </a:r>
            <a:endParaRPr lang="en-US" sz="850" dirty="0"/>
          </a:p>
        </p:txBody>
      </p:sp>
      <p:pic>
        <p:nvPicPr>
          <p:cNvPr id="5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96119" y="1258863"/>
            <a:ext cx="271314" cy="271314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496119" y="1633984"/>
            <a:ext cx="1356717" cy="1695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050" b="1" dirty="0">
                <a:solidFill>
                  <a:srgbClr val="C2C4B5"/>
                </a:solidFill>
                <a:latin typeface="Outfit Bold" pitchFamily="34" charset="0"/>
                <a:ea typeface="Outfit Bold" pitchFamily="34" charset="-122"/>
                <a:cs typeface="Outfit Bold" pitchFamily="34" charset="-120"/>
              </a:rPr>
              <a:t>Unit Testing</a:t>
            </a:r>
            <a:endParaRPr lang="en-US" sz="1050" dirty="0"/>
          </a:p>
        </p:txBody>
      </p:sp>
      <p:sp>
        <p:nvSpPr>
          <p:cNvPr id="7" name="Text 3"/>
          <p:cNvSpPr/>
          <p:nvPr/>
        </p:nvSpPr>
        <p:spPr>
          <a:xfrm>
            <a:off x="496119" y="1853357"/>
            <a:ext cx="4722763" cy="1532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850" dirty="0">
                <a:solidFill>
                  <a:srgbClr val="C2C4B5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Verify individual components function correctly in isolation.</a:t>
            </a:r>
            <a:endParaRPr lang="en-US" sz="850" dirty="0"/>
          </a:p>
        </p:txBody>
      </p:sp>
      <p:pic>
        <p:nvPicPr>
          <p:cNvPr id="8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96119" y="2172816"/>
            <a:ext cx="271314" cy="271314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496119" y="2547938"/>
            <a:ext cx="1356717" cy="1695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050" b="1" dirty="0">
                <a:solidFill>
                  <a:srgbClr val="C2C4B5"/>
                </a:solidFill>
                <a:latin typeface="Outfit Bold" pitchFamily="34" charset="0"/>
                <a:ea typeface="Outfit Bold" pitchFamily="34" charset="-122"/>
                <a:cs typeface="Outfit Bold" pitchFamily="34" charset="-120"/>
              </a:rPr>
              <a:t>Integration Testing</a:t>
            </a:r>
            <a:endParaRPr lang="en-US" sz="1050" dirty="0"/>
          </a:p>
        </p:txBody>
      </p:sp>
      <p:sp>
        <p:nvSpPr>
          <p:cNvPr id="10" name="Text 5"/>
          <p:cNvSpPr/>
          <p:nvPr/>
        </p:nvSpPr>
        <p:spPr>
          <a:xfrm>
            <a:off x="496119" y="2767310"/>
            <a:ext cx="4722763" cy="1532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850" dirty="0">
                <a:solidFill>
                  <a:srgbClr val="C2C4B5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Ensure different modules interact seamlessly as expected.</a:t>
            </a:r>
            <a:endParaRPr lang="en-US" sz="850" dirty="0"/>
          </a:p>
        </p:txBody>
      </p:sp>
      <p:pic>
        <p:nvPicPr>
          <p:cNvPr id="11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96119" y="3086770"/>
            <a:ext cx="271314" cy="271314"/>
          </a:xfrm>
          <a:prstGeom prst="rect">
            <a:avLst/>
          </a:prstGeom>
        </p:spPr>
      </p:pic>
      <p:sp>
        <p:nvSpPr>
          <p:cNvPr id="12" name="Text 6"/>
          <p:cNvSpPr/>
          <p:nvPr/>
        </p:nvSpPr>
        <p:spPr>
          <a:xfrm>
            <a:off x="496119" y="3461891"/>
            <a:ext cx="1356717" cy="1695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050" b="1" dirty="0">
                <a:solidFill>
                  <a:srgbClr val="C2C4B5"/>
                </a:solidFill>
                <a:latin typeface="Outfit Bold" pitchFamily="34" charset="0"/>
                <a:ea typeface="Outfit Bold" pitchFamily="34" charset="-122"/>
                <a:cs typeface="Outfit Bold" pitchFamily="34" charset="-120"/>
              </a:rPr>
              <a:t>System Testing</a:t>
            </a:r>
            <a:endParaRPr lang="en-US" sz="1050" dirty="0"/>
          </a:p>
        </p:txBody>
      </p:sp>
      <p:sp>
        <p:nvSpPr>
          <p:cNvPr id="13" name="Text 7"/>
          <p:cNvSpPr/>
          <p:nvPr/>
        </p:nvSpPr>
        <p:spPr>
          <a:xfrm>
            <a:off x="496119" y="3681264"/>
            <a:ext cx="4722763" cy="1532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850" dirty="0">
                <a:solidFill>
                  <a:srgbClr val="C2C4B5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Validate the complete application against functional requirements.</a:t>
            </a:r>
            <a:endParaRPr lang="en-US" sz="850" dirty="0"/>
          </a:p>
        </p:txBody>
      </p:sp>
      <p:pic>
        <p:nvPicPr>
          <p:cNvPr id="14" name="Image 4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496119" y="4000723"/>
            <a:ext cx="271314" cy="271314"/>
          </a:xfrm>
          <a:prstGeom prst="rect">
            <a:avLst/>
          </a:prstGeom>
        </p:spPr>
      </p:pic>
      <p:sp>
        <p:nvSpPr>
          <p:cNvPr id="15" name="Text 8"/>
          <p:cNvSpPr/>
          <p:nvPr/>
        </p:nvSpPr>
        <p:spPr>
          <a:xfrm>
            <a:off x="496119" y="4375845"/>
            <a:ext cx="1356717" cy="1695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050" b="1" dirty="0">
                <a:solidFill>
                  <a:srgbClr val="C2C4B5"/>
                </a:solidFill>
                <a:latin typeface="Outfit Bold" pitchFamily="34" charset="0"/>
                <a:ea typeface="Outfit Bold" pitchFamily="34" charset="-122"/>
                <a:cs typeface="Outfit Bold" pitchFamily="34" charset="-120"/>
              </a:rPr>
              <a:t>Security Testing</a:t>
            </a:r>
            <a:endParaRPr lang="en-US" sz="1050" dirty="0"/>
          </a:p>
        </p:txBody>
      </p:sp>
      <p:sp>
        <p:nvSpPr>
          <p:cNvPr id="16" name="Text 9"/>
          <p:cNvSpPr/>
          <p:nvPr/>
        </p:nvSpPr>
        <p:spPr>
          <a:xfrm>
            <a:off x="496119" y="4595217"/>
            <a:ext cx="4722763" cy="1532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850" dirty="0">
                <a:solidFill>
                  <a:srgbClr val="C2C4B5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Identify vulnerabilities and ensure data protection.</a:t>
            </a:r>
            <a:endParaRPr lang="en-US" sz="8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522312"/>
            <a:ext cx="4801791" cy="3875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400" b="1" dirty="0">
                <a:solidFill>
                  <a:srgbClr val="E1E5CD"/>
                </a:solidFill>
                <a:latin typeface="Outfit Bold" pitchFamily="34" charset="0"/>
                <a:ea typeface="Outfit Bold" pitchFamily="34" charset="-122"/>
                <a:cs typeface="Outfit Bold" pitchFamily="34" charset="-120"/>
              </a:rPr>
              <a:t>Implementation &amp; Deployment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96119" y="1126927"/>
            <a:ext cx="8151763" cy="3720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950" dirty="0">
                <a:solidFill>
                  <a:srgbClr val="C2C4B5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Bringing the Leave Management System to life involves a structured approach, from setting up the development environment to deploying the final application.</a:t>
            </a:r>
            <a:endParaRPr lang="en-US" sz="95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96119" y="1636514"/>
            <a:ext cx="123974" cy="123974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496119" y="1817489"/>
            <a:ext cx="4021634" cy="14288"/>
          </a:xfrm>
          <a:prstGeom prst="rect">
            <a:avLst/>
          </a:prstGeom>
          <a:solidFill>
            <a:srgbClr val="9FA58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3"/>
          <p:cNvSpPr/>
          <p:nvPr/>
        </p:nvSpPr>
        <p:spPr>
          <a:xfrm>
            <a:off x="496119" y="1908051"/>
            <a:ext cx="1550566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b="1" dirty="0">
                <a:solidFill>
                  <a:srgbClr val="C2C4B5"/>
                </a:solidFill>
                <a:latin typeface="Outfit Bold" pitchFamily="34" charset="0"/>
                <a:ea typeface="Outfit Bold" pitchFamily="34" charset="-122"/>
                <a:cs typeface="Outfit Bold" pitchFamily="34" charset="-120"/>
              </a:rPr>
              <a:t>Environment Setup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496119" y="2167012"/>
            <a:ext cx="4021634" cy="1860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950" dirty="0">
                <a:solidFill>
                  <a:srgbClr val="C2C4B5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Installing Java, MySQL, and setting up the development IDE.</a:t>
            </a:r>
            <a:endParaRPr lang="en-US" sz="950" dirty="0"/>
          </a:p>
        </p:txBody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626248" y="1636514"/>
            <a:ext cx="123974" cy="123974"/>
          </a:xfrm>
          <a:prstGeom prst="rect">
            <a:avLst/>
          </a:prstGeom>
        </p:spPr>
      </p:pic>
      <p:sp>
        <p:nvSpPr>
          <p:cNvPr id="9" name="Shape 5"/>
          <p:cNvSpPr/>
          <p:nvPr/>
        </p:nvSpPr>
        <p:spPr>
          <a:xfrm>
            <a:off x="4626248" y="1817489"/>
            <a:ext cx="4021634" cy="14288"/>
          </a:xfrm>
          <a:prstGeom prst="rect">
            <a:avLst/>
          </a:prstGeom>
          <a:solidFill>
            <a:srgbClr val="9FA58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6"/>
          <p:cNvSpPr/>
          <p:nvPr/>
        </p:nvSpPr>
        <p:spPr>
          <a:xfrm>
            <a:off x="4626248" y="1908051"/>
            <a:ext cx="1550566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b="1" dirty="0">
                <a:solidFill>
                  <a:srgbClr val="C2C4B5"/>
                </a:solidFill>
                <a:latin typeface="Outfit Bold" pitchFamily="34" charset="0"/>
                <a:ea typeface="Outfit Bold" pitchFamily="34" charset="-122"/>
                <a:cs typeface="Outfit Bold" pitchFamily="34" charset="-120"/>
              </a:rPr>
              <a:t>Code Development</a:t>
            </a:r>
            <a:endParaRPr lang="en-US" sz="1200" dirty="0"/>
          </a:p>
        </p:txBody>
      </p:sp>
      <p:sp>
        <p:nvSpPr>
          <p:cNvPr id="11" name="Text 7"/>
          <p:cNvSpPr/>
          <p:nvPr/>
        </p:nvSpPr>
        <p:spPr>
          <a:xfrm>
            <a:off x="4626248" y="2167012"/>
            <a:ext cx="4021634" cy="1860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950" dirty="0">
                <a:solidFill>
                  <a:srgbClr val="C2C4B5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Writing Spring Boot controllers, services, and security configurations.</a:t>
            </a:r>
            <a:endParaRPr lang="en-US" sz="950" dirty="0"/>
          </a:p>
        </p:txBody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96119" y="2570038"/>
            <a:ext cx="123974" cy="123974"/>
          </a:xfrm>
          <a:prstGeom prst="rect">
            <a:avLst/>
          </a:prstGeom>
        </p:spPr>
      </p:pic>
      <p:sp>
        <p:nvSpPr>
          <p:cNvPr id="13" name="Shape 8"/>
          <p:cNvSpPr/>
          <p:nvPr/>
        </p:nvSpPr>
        <p:spPr>
          <a:xfrm>
            <a:off x="496119" y="2751013"/>
            <a:ext cx="4021634" cy="14288"/>
          </a:xfrm>
          <a:prstGeom prst="rect">
            <a:avLst/>
          </a:prstGeom>
          <a:solidFill>
            <a:srgbClr val="9FA58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9"/>
          <p:cNvSpPr/>
          <p:nvPr/>
        </p:nvSpPr>
        <p:spPr>
          <a:xfrm>
            <a:off x="496119" y="2841575"/>
            <a:ext cx="1550566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b="1" dirty="0">
                <a:solidFill>
                  <a:srgbClr val="C2C4B5"/>
                </a:solidFill>
                <a:latin typeface="Outfit Bold" pitchFamily="34" charset="0"/>
                <a:ea typeface="Outfit Bold" pitchFamily="34" charset="-122"/>
                <a:cs typeface="Outfit Bold" pitchFamily="34" charset="-120"/>
              </a:rPr>
              <a:t>Database Integration</a:t>
            </a:r>
            <a:endParaRPr lang="en-US" sz="1200" dirty="0"/>
          </a:p>
        </p:txBody>
      </p:sp>
      <p:sp>
        <p:nvSpPr>
          <p:cNvPr id="15" name="Text 10"/>
          <p:cNvSpPr/>
          <p:nvPr/>
        </p:nvSpPr>
        <p:spPr>
          <a:xfrm>
            <a:off x="496119" y="3100536"/>
            <a:ext cx="4021634" cy="1860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950" dirty="0">
                <a:solidFill>
                  <a:srgbClr val="C2C4B5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Defining JPA entities and repositories for MySQL data persistence.</a:t>
            </a:r>
            <a:endParaRPr lang="en-US" sz="950" dirty="0"/>
          </a:p>
        </p:txBody>
      </p:sp>
      <p:pic>
        <p:nvPicPr>
          <p:cNvPr id="16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626248" y="2570038"/>
            <a:ext cx="123974" cy="123974"/>
          </a:xfrm>
          <a:prstGeom prst="rect">
            <a:avLst/>
          </a:prstGeom>
        </p:spPr>
      </p:pic>
      <p:sp>
        <p:nvSpPr>
          <p:cNvPr id="17" name="Shape 11"/>
          <p:cNvSpPr/>
          <p:nvPr/>
        </p:nvSpPr>
        <p:spPr>
          <a:xfrm>
            <a:off x="4626248" y="2751013"/>
            <a:ext cx="4021634" cy="14288"/>
          </a:xfrm>
          <a:prstGeom prst="rect">
            <a:avLst/>
          </a:prstGeom>
          <a:solidFill>
            <a:srgbClr val="9FA58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2"/>
          <p:cNvSpPr/>
          <p:nvPr/>
        </p:nvSpPr>
        <p:spPr>
          <a:xfrm>
            <a:off x="4626248" y="2841575"/>
            <a:ext cx="1550566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b="1" dirty="0">
                <a:solidFill>
                  <a:srgbClr val="C2C4B5"/>
                </a:solidFill>
                <a:latin typeface="Outfit Bold" pitchFamily="34" charset="0"/>
                <a:ea typeface="Outfit Bold" pitchFamily="34" charset="-122"/>
                <a:cs typeface="Outfit Bold" pitchFamily="34" charset="-120"/>
              </a:rPr>
              <a:t>Build &amp; Package</a:t>
            </a:r>
            <a:endParaRPr lang="en-US" sz="1200" dirty="0"/>
          </a:p>
        </p:txBody>
      </p:sp>
      <p:sp>
        <p:nvSpPr>
          <p:cNvPr id="19" name="Text 13"/>
          <p:cNvSpPr/>
          <p:nvPr/>
        </p:nvSpPr>
        <p:spPr>
          <a:xfrm>
            <a:off x="4626248" y="3100536"/>
            <a:ext cx="4021634" cy="1860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950" dirty="0">
                <a:solidFill>
                  <a:srgbClr val="C2C4B5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Using Maven to compile code and package into an executable JAR.</a:t>
            </a:r>
            <a:endParaRPr lang="en-US" sz="950" dirty="0"/>
          </a:p>
        </p:txBody>
      </p:sp>
      <p:pic>
        <p:nvPicPr>
          <p:cNvPr id="20" name="Image 4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496119" y="3503563"/>
            <a:ext cx="123974" cy="123974"/>
          </a:xfrm>
          <a:prstGeom prst="rect">
            <a:avLst/>
          </a:prstGeom>
        </p:spPr>
      </p:pic>
      <p:sp>
        <p:nvSpPr>
          <p:cNvPr id="21" name="Shape 14"/>
          <p:cNvSpPr/>
          <p:nvPr/>
        </p:nvSpPr>
        <p:spPr>
          <a:xfrm>
            <a:off x="496119" y="3684538"/>
            <a:ext cx="4021634" cy="14288"/>
          </a:xfrm>
          <a:prstGeom prst="rect">
            <a:avLst/>
          </a:prstGeom>
          <a:solidFill>
            <a:srgbClr val="9FA58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Text 15"/>
          <p:cNvSpPr/>
          <p:nvPr/>
        </p:nvSpPr>
        <p:spPr>
          <a:xfrm>
            <a:off x="496119" y="3775100"/>
            <a:ext cx="1550566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b="1" dirty="0">
                <a:solidFill>
                  <a:srgbClr val="C2C4B5"/>
                </a:solidFill>
                <a:latin typeface="Outfit Bold" pitchFamily="34" charset="0"/>
                <a:ea typeface="Outfit Bold" pitchFamily="34" charset="-122"/>
                <a:cs typeface="Outfit Bold" pitchFamily="34" charset="-120"/>
              </a:rPr>
              <a:t>Deployment</a:t>
            </a:r>
            <a:endParaRPr lang="en-US" sz="1200" dirty="0"/>
          </a:p>
        </p:txBody>
      </p:sp>
      <p:sp>
        <p:nvSpPr>
          <p:cNvPr id="23" name="Text 16"/>
          <p:cNvSpPr/>
          <p:nvPr/>
        </p:nvSpPr>
        <p:spPr>
          <a:xfrm>
            <a:off x="496119" y="4034061"/>
            <a:ext cx="4021634" cy="1860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950" dirty="0">
                <a:solidFill>
                  <a:srgbClr val="C2C4B5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Executing the JAR on a server to launch the web application.</a:t>
            </a:r>
            <a:endParaRPr lang="en-US" sz="950" dirty="0"/>
          </a:p>
        </p:txBody>
      </p:sp>
      <p:pic>
        <p:nvPicPr>
          <p:cNvPr id="24" name="Image 5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4626248" y="3503563"/>
            <a:ext cx="123974" cy="123974"/>
          </a:xfrm>
          <a:prstGeom prst="rect">
            <a:avLst/>
          </a:prstGeom>
        </p:spPr>
      </p:pic>
      <p:sp>
        <p:nvSpPr>
          <p:cNvPr id="25" name="Shape 17"/>
          <p:cNvSpPr/>
          <p:nvPr/>
        </p:nvSpPr>
        <p:spPr>
          <a:xfrm>
            <a:off x="4626248" y="3684538"/>
            <a:ext cx="4021634" cy="14288"/>
          </a:xfrm>
          <a:prstGeom prst="rect">
            <a:avLst/>
          </a:prstGeom>
          <a:solidFill>
            <a:srgbClr val="9FA58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6" name="Text 18"/>
          <p:cNvSpPr/>
          <p:nvPr/>
        </p:nvSpPr>
        <p:spPr>
          <a:xfrm>
            <a:off x="4626248" y="3775100"/>
            <a:ext cx="1550566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b="1" dirty="0">
                <a:solidFill>
                  <a:srgbClr val="C2C4B5"/>
                </a:solidFill>
                <a:latin typeface="Outfit Bold" pitchFamily="34" charset="0"/>
                <a:ea typeface="Outfit Bold" pitchFamily="34" charset="-122"/>
                <a:cs typeface="Outfit Bold" pitchFamily="34" charset="-120"/>
              </a:rPr>
              <a:t>Testing &amp; Validation</a:t>
            </a:r>
            <a:endParaRPr lang="en-US" sz="1200" dirty="0"/>
          </a:p>
        </p:txBody>
      </p:sp>
      <p:sp>
        <p:nvSpPr>
          <p:cNvPr id="27" name="Text 19"/>
          <p:cNvSpPr/>
          <p:nvPr/>
        </p:nvSpPr>
        <p:spPr>
          <a:xfrm>
            <a:off x="4626248" y="4034061"/>
            <a:ext cx="4021634" cy="1860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950" dirty="0">
                <a:solidFill>
                  <a:srgbClr val="C2C4B5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Verifying functionality and API endpoints using Postman.</a:t>
            </a:r>
            <a:endParaRPr lang="en-US" sz="950" dirty="0"/>
          </a:p>
        </p:txBody>
      </p:sp>
      <p:sp>
        <p:nvSpPr>
          <p:cNvPr id="28" name="Text 20"/>
          <p:cNvSpPr/>
          <p:nvPr/>
        </p:nvSpPr>
        <p:spPr>
          <a:xfrm>
            <a:off x="496119" y="4435153"/>
            <a:ext cx="8608963" cy="1860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950" dirty="0">
                <a:solidFill>
                  <a:srgbClr val="C2C4B5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Each stage is critical to ensure a robust, functional, and production-ready system.</a:t>
            </a:r>
            <a:endParaRPr lang="en-US" sz="9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43550" y="0"/>
            <a:ext cx="360045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96119" y="1795611"/>
            <a:ext cx="5179963" cy="8860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5550" b="1" dirty="0">
                <a:solidFill>
                  <a:srgbClr val="E1E5CD"/>
                </a:solidFill>
                <a:latin typeface="Outfit Bold" pitchFamily="34" charset="0"/>
                <a:ea typeface="Outfit Bold" pitchFamily="34" charset="-122"/>
                <a:cs typeface="Outfit Bold" pitchFamily="34" charset="-120"/>
              </a:rPr>
              <a:t>Thank You</a:t>
            </a:r>
            <a:endParaRPr lang="en-US" sz="5550" dirty="0"/>
          </a:p>
        </p:txBody>
      </p:sp>
      <p:sp>
        <p:nvSpPr>
          <p:cNvPr id="4" name="Text 1"/>
          <p:cNvSpPr/>
          <p:nvPr/>
        </p:nvSpPr>
        <p:spPr>
          <a:xfrm>
            <a:off x="496119" y="2894261"/>
            <a:ext cx="4722763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C2C4B5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            G.Sudheer|  Reg No: 23AK1A30A3</a:t>
            </a:r>
            <a:endParaRPr lang="en-US" sz="110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C2C4B5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       AI&amp;DS, Annamacharya Institute of Technology and Science     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1060</Words>
  <Application>Microsoft Office PowerPoint</Application>
  <PresentationFormat>On-screen Show (16:9)</PresentationFormat>
  <Paragraphs>181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20" baseType="lpstr">
      <vt:lpstr>Outfit Bold</vt:lpstr>
      <vt:lpstr>Arial</vt:lpstr>
      <vt:lpstr>Bitter</vt:lpstr>
      <vt:lpstr>Outfit Light</vt:lpstr>
      <vt:lpstr>Bitter Bold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>sree ram</cp:lastModifiedBy>
  <cp:revision>2</cp:revision>
  <dcterms:created xsi:type="dcterms:W3CDTF">2026-06-23T14:50:50Z</dcterms:created>
  <dcterms:modified xsi:type="dcterms:W3CDTF">2026-06-24T07:42:08Z</dcterms:modified>
</cp:coreProperties>
</file>