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itter SemiBold"/>
      <p:regular r:id="rId201314"/>
    </p:embeddedFont>
    <p:embeddedFont>
      <p:font typeface="Bitter Thin"/>
      <p:regular r:id="rId201315"/>
    </p:embeddedFont>
    <p:embeddedFont>
      <p:font typeface="Bitter ExtraLight"/>
      <p:regular r:id="rId201316"/>
    </p:embeddedFont>
    <p:embeddedFont>
      <p:font typeface="Bitter Light"/>
      <p:regular r:id="rId201317"/>
    </p:embeddedFont>
    <p:embeddedFont>
      <p:font typeface="Bitter"/>
      <p:regular r:id="rId201318"/>
    </p:embeddedFont>
    <p:embeddedFont>
      <p:font typeface="Bitter Medium"/>
      <p:regular r:id="rId201319"/>
    </p:embeddedFont>
    <p:embeddedFont>
      <p:font typeface="Bitter Bold"/>
      <p:regular r:id="rId201320"/>
    </p:embeddedFont>
    <p:embeddedFont>
      <p:font typeface="Bitter ExtraBold"/>
      <p:regular r:id="rId201321"/>
    </p:embeddedFont>
    <p:embeddedFont>
      <p:font typeface="Bitter Black"/>
      <p:regular r:id="rId201322"/>
    </p:embeddedFont>
    <p:embeddedFont>
      <p:font typeface="Outfit Light"/>
      <p:regular r:id="rId201323"/>
    </p:embeddedFont>
    <p:embeddedFont>
      <p:font typeface="Outfit Thin"/>
      <p:regular r:id="rId201324"/>
    </p:embeddedFont>
    <p:embeddedFont>
      <p:font typeface="Outfit ExtraLight"/>
      <p:regular r:id="rId201325"/>
    </p:embeddedFont>
    <p:embeddedFont>
      <p:font typeface="Outfit"/>
      <p:regular r:id="rId201326"/>
    </p:embeddedFont>
    <p:embeddedFont>
      <p:font typeface="Outfit Medium"/>
      <p:regular r:id="rId201327"/>
    </p:embeddedFont>
    <p:embeddedFont>
      <p:font typeface="Outfit SemiBold"/>
      <p:regular r:id="rId201328"/>
    </p:embeddedFont>
    <p:embeddedFont>
      <p:font typeface="Outfit Bold"/>
      <p:regular r:id="rId201329"/>
    </p:embeddedFont>
    <p:embeddedFont>
      <p:font typeface="Outfit ExtraBold"/>
      <p:regular r:id="rId201330"/>
    </p:embeddedFont>
    <p:embeddedFont>
      <p:font typeface="Outfit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Notification System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1082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Using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Spring Boot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and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WebSocket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for instant, server-to-client communication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Presented By: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T. Prem Charan  |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Register Number: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23AK1A3082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31676"/>
            <a:ext cx="4722763" cy="719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What Is a Real-Time Notification System?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925119" y="1291903"/>
            <a:ext cx="4722763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web application that delivers </a:t>
            </a:r>
            <a:pPr algn="l" indent="0" marL="0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instant messages and alerts</a:t>
            </a:r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to users the moment an event occurs — with no page refresh required. The server pushes updates directly to connected clients, keeping users informed in real time.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925119" y="1898079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3B3C3E"/>
          </a:solidFill>
          <a:ln/>
        </p:spPr>
      </p:sp>
      <p:sp>
        <p:nvSpPr>
          <p:cNvPr id="6" name="Text 3"/>
          <p:cNvSpPr/>
          <p:nvPr/>
        </p:nvSpPr>
        <p:spPr>
          <a:xfrm>
            <a:off x="4040237" y="2013198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Chat Apps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40237" y="2249239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Instant messages delivered without delay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25119" y="2624882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3B3C3E"/>
          </a:solidFill>
          <a:ln/>
        </p:spPr>
      </p:sp>
      <p:sp>
        <p:nvSpPr>
          <p:cNvPr id="9" name="Text 6"/>
          <p:cNvSpPr/>
          <p:nvPr/>
        </p:nvSpPr>
        <p:spPr>
          <a:xfrm>
            <a:off x="4040237" y="2740000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Social Media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040237" y="2976042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Live alerts for likes, comments, and mentions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25119" y="3351684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3B3C3E"/>
          </a:solidFill>
          <a:ln/>
        </p:spPr>
      </p:sp>
      <p:sp>
        <p:nvSpPr>
          <p:cNvPr id="12" name="Text 9"/>
          <p:cNvSpPr/>
          <p:nvPr/>
        </p:nvSpPr>
        <p:spPr>
          <a:xfrm>
            <a:off x="4040237" y="3466802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E-Commerce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40237" y="3702844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Order status and delivery updates in real time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25119" y="4078486"/>
            <a:ext cx="4722763" cy="633264"/>
          </a:xfrm>
          <a:prstGeom prst="roundRect">
            <a:avLst>
              <a:gd name="adj" fmla="val 2728"/>
            </a:avLst>
          </a:prstGeom>
          <a:solidFill>
            <a:srgbClr val="3B3C3E"/>
          </a:solidFill>
          <a:ln/>
        </p:spPr>
      </p:sp>
      <p:sp>
        <p:nvSpPr>
          <p:cNvPr id="15" name="Text 12"/>
          <p:cNvSpPr/>
          <p:nvPr/>
        </p:nvSpPr>
        <p:spPr>
          <a:xfrm>
            <a:off x="4040237" y="4193604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🏦</a:t>
            </a:r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Banking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40237" y="4429646"/>
            <a:ext cx="4492526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Transaction alerts and security notifications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249"/>
            <a:ext cx="3890590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14425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This system is designed to bridge the gap between user actions and application responses, delivering a seamless and modern web experience.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96715"/>
            <a:ext cx="4009355" cy="14472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97770" y="179300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2463" y="226069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Instant Delivery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2463" y="2555007"/>
            <a:ext cx="3696667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Push notifications to users the moment an event is triggered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8452" y="1696715"/>
            <a:ext cx="4009430" cy="144727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40178" y="179300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794796" y="2260699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Enhanced UX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794796" y="2555007"/>
            <a:ext cx="36967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Improve responsiveness and reduce reliance on manual refresh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76972"/>
            <a:ext cx="4009355" cy="14472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97770" y="337326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2463" y="3840956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Multi-User Support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52463" y="4135264"/>
            <a:ext cx="3696667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Handle multiple concurrent connections efficiently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8452" y="3276972"/>
            <a:ext cx="4009430" cy="144727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40178" y="3373264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794796" y="3840956"/>
            <a:ext cx="196296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Efficient Communication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794796" y="4135264"/>
            <a:ext cx="369674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Minimize server load through persistent WebSocket connections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2284661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96119" y="2415332"/>
            <a:ext cx="3986733" cy="265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architecture follows a clean layered approach.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Frontend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captures user actions and displays notifications.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Spring Boot Backend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processes requests and generates events.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WebSocket Server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maintains persistent connections and pushes messages. The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MySQL Database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persists notification records.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496119" y="2723331"/>
            <a:ext cx="3986733" cy="281285"/>
          </a:xfrm>
          <a:prstGeom prst="roundRect">
            <a:avLst>
              <a:gd name="adj" fmla="val 3898"/>
            </a:avLst>
          </a:prstGeom>
          <a:solidFill>
            <a:srgbClr val="474A3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193" y="2817316"/>
            <a:ext cx="91306" cy="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3574" y="2775421"/>
            <a:ext cx="3676204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WebSocket replaces the traditional request-response cycle with a persistent, full-duplex connection — enabling true server-to-client push.</a:t>
            </a:r>
            <a:endParaRPr lang="en-US" sz="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5911" y="720849"/>
            <a:ext cx="3986733" cy="39867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373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Technologies Used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0023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technology plays a specific role in delivering a robust, real-time notification experience.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86520"/>
            <a:ext cx="8151763" cy="2883247"/>
          </a:xfrm>
          <a:prstGeom prst="roundRect">
            <a:avLst>
              <a:gd name="adj" fmla="val 73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1781101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Java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87737" y="1781101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programming language for backend logic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192313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87737" y="2192313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Rapid backend framework with embedded server support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603525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87737" y="2603525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Protocol enabling persistent, bidirectional communication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014737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STOMP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087737" y="3014737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Messaging protocol layered over WebSocket for structured payloads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425949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MySQL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87737" y="3425949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Relational database for persisting notification records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837161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Maven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7737" y="3837161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Dependency management and project build tool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2714" y="4248373"/>
            <a:ext cx="26139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HTML / CSS / JS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87737" y="4248373"/>
            <a:ext cx="58708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Frontend layer for user interaction and notification display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84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Project Structure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64977"/>
            <a:ext cx="39029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project follows a standard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Spring Boot layered architecture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, separating concerns across controller, service, model, repository, and configuration packages for clean, maintainable code.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49701" y="1396901"/>
            <a:ext cx="3902943" cy="3005286"/>
          </a:xfrm>
          <a:prstGeom prst="roundRect">
            <a:avLst>
              <a:gd name="adj" fmla="val 708"/>
            </a:avLst>
          </a:prstGeom>
          <a:solidFill>
            <a:srgbClr val="292A2C"/>
          </a:solidFill>
          <a:ln/>
        </p:spPr>
      </p:sp>
      <p:sp>
        <p:nvSpPr>
          <p:cNvPr id="5" name="Shape 3"/>
          <p:cNvSpPr/>
          <p:nvPr/>
        </p:nvSpPr>
        <p:spPr>
          <a:xfrm>
            <a:off x="4742631" y="1396901"/>
            <a:ext cx="3917082" cy="3005286"/>
          </a:xfrm>
          <a:prstGeom prst="roundRect">
            <a:avLst>
              <a:gd name="adj" fmla="val 708"/>
            </a:avLst>
          </a:prstGeom>
          <a:solidFill>
            <a:srgbClr val="292A2C"/>
          </a:solidFill>
          <a:ln/>
        </p:spPr>
      </p:sp>
      <p:sp>
        <p:nvSpPr>
          <p:cNvPr id="6" name="Text 4"/>
          <p:cNvSpPr/>
          <p:nvPr/>
        </p:nvSpPr>
        <p:spPr>
          <a:xfrm>
            <a:off x="4919811" y="1538660"/>
            <a:ext cx="3562722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src/main/java/com/notification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NotificationController.java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NotificationService.java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Notification.java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NotificationRepository.java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│ └── WebSocketConfig.java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9C0FF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RealTimeNotificationApplication.java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857"/>
            <a:ext cx="2893814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How It Works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96119" y="869305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617934" y="1070297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1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52946" y="96671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Action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52946" y="1159148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triggers an event on the frontend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96119" y="1521023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8" name="Text 6"/>
          <p:cNvSpPr/>
          <p:nvPr/>
        </p:nvSpPr>
        <p:spPr>
          <a:xfrm>
            <a:off x="617934" y="1722016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2946" y="1618431"/>
            <a:ext cx="1359098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Server Receives Request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52946" y="1810866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Spring Boot processes the incoming request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6119" y="2172742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12" name="Text 10"/>
          <p:cNvSpPr/>
          <p:nvPr/>
        </p:nvSpPr>
        <p:spPr>
          <a:xfrm>
            <a:off x="617934" y="237373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3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52946" y="2270150"/>
            <a:ext cx="13072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Notification Generated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52946" y="2462585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Server creates and persists the notification event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6119" y="2824460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16" name="Text 14"/>
          <p:cNvSpPr/>
          <p:nvPr/>
        </p:nvSpPr>
        <p:spPr>
          <a:xfrm>
            <a:off x="617934" y="3025453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4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2946" y="2921868"/>
            <a:ext cx="129004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WebSocket Broadcasts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52946" y="3114303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Message is pushed through the WebSocket channel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96119" y="3476179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20" name="Text 18"/>
          <p:cNvSpPr/>
          <p:nvPr/>
        </p:nvSpPr>
        <p:spPr>
          <a:xfrm>
            <a:off x="617934" y="367717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52946" y="3573587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Clients Receive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52946" y="3766021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 connected clients get the message instantly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6119" y="4127897"/>
            <a:ext cx="389855" cy="584746"/>
          </a:xfrm>
          <a:prstGeom prst="roundRect">
            <a:avLst>
              <a:gd name="adj" fmla="val 360004"/>
            </a:avLst>
          </a:prstGeom>
          <a:solidFill>
            <a:srgbClr val="3B3C3E"/>
          </a:solidFill>
          <a:ln/>
        </p:spPr>
      </p:sp>
      <p:sp>
        <p:nvSpPr>
          <p:cNvPr id="24" name="Text 22"/>
          <p:cNvSpPr/>
          <p:nvPr/>
        </p:nvSpPr>
        <p:spPr>
          <a:xfrm>
            <a:off x="617934" y="4328889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6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2946" y="4225305"/>
            <a:ext cx="1257300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Notification Displayed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52946" y="4417740"/>
            <a:ext cx="7694935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Alert appears on the user's screen without refresh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48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End-to-End Flow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641" y="1147986"/>
            <a:ext cx="7890644" cy="29609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2209" y="3390127"/>
            <a:ext cx="1190147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Clients Notify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502299" y="3275494"/>
            <a:ext cx="1190146" cy="458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WebSocket Broadcast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10540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518781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Action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94415" y="3390127"/>
            <a:ext cx="1190146" cy="229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Start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26839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flow is entirely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event-driven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. Once a user action reaches the Spring Boot server, the notification lifecycle is automatic — from generation to delivery — with zero polling required from the client side.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502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Advantages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01527"/>
            <a:ext cx="354360" cy="35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Real-Time Updates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339578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Notifications arrive instantly, eliminating latency and manual refresh cycles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501527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0553" y="203306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Improved UX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60553" y="2339578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Seamless, responsive interface keeps users engaged and informed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076724"/>
            <a:ext cx="354360" cy="35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Reduced Server Load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914775"/>
            <a:ext cx="398725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Persistent WebSocket connections replace inefficient HTTP polling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0553" y="3076724"/>
            <a:ext cx="354360" cy="35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60553" y="360826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Scalable &amp; Reliable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60553" y="3914775"/>
            <a:ext cx="39873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Supports multiple concurrent users with consistent, reliable delivery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8030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Conclusion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435894"/>
            <a:ext cx="472276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Real-Time Notification System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built with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2C4B5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Spring Boot and WebSocket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delivers a modern, scalable solution for instant server-to-client communication. It enhances responsiveness, drives user engagement, and eliminates the inefficiencies of traditional polling-based architectures.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729433"/>
            <a:ext cx="4722763" cy="1633686"/>
          </a:xfrm>
          <a:prstGeom prst="roundRect">
            <a:avLst>
              <a:gd name="adj" fmla="val 1302"/>
            </a:avLst>
          </a:prstGeom>
          <a:solidFill>
            <a:srgbClr val="3B3C3E"/>
          </a:solidFill>
          <a:ln/>
        </p:spPr>
      </p:sp>
      <p:sp>
        <p:nvSpPr>
          <p:cNvPr id="6" name="Shape 3"/>
          <p:cNvSpPr/>
          <p:nvPr/>
        </p:nvSpPr>
        <p:spPr>
          <a:xfrm>
            <a:off x="3925119" y="2729433"/>
            <a:ext cx="2361381" cy="816843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7" name="Text 4"/>
          <p:cNvSpPr/>
          <p:nvPr/>
        </p:nvSpPr>
        <p:spPr>
          <a:xfrm>
            <a:off x="4066877" y="28711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Presented By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066877" y="3177704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T. Prem Charan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86500" y="2729433"/>
            <a:ext cx="2361381" cy="816843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0" name="Shape 7"/>
          <p:cNvSpPr/>
          <p:nvPr/>
        </p:nvSpPr>
        <p:spPr>
          <a:xfrm>
            <a:off x="6286500" y="2729433"/>
            <a:ext cx="19050" cy="816843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1" name="Text 8"/>
          <p:cNvSpPr/>
          <p:nvPr/>
        </p:nvSpPr>
        <p:spPr>
          <a:xfrm>
            <a:off x="6428259" y="287119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Register Number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28259" y="3177704"/>
            <a:ext cx="20778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23AK1A3082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25119" y="3546277"/>
            <a:ext cx="4722763" cy="816843"/>
          </a:xfrm>
          <a:prstGeom prst="rect">
            <a:avLst/>
          </a:prstGeom>
          <a:solidFill>
            <a:srgbClr val="3B3C3E"/>
          </a:solidFill>
          <a:ln/>
        </p:spPr>
      </p:sp>
      <p:sp>
        <p:nvSpPr>
          <p:cNvPr id="14" name="Shape 11"/>
          <p:cNvSpPr/>
          <p:nvPr/>
        </p:nvSpPr>
        <p:spPr>
          <a:xfrm>
            <a:off x="3925119" y="3546277"/>
            <a:ext cx="4722763" cy="19050"/>
          </a:xfrm>
          <a:prstGeom prst="roundRect">
            <a:avLst>
              <a:gd name="adj" fmla="val 111628"/>
            </a:avLst>
          </a:prstGeom>
          <a:solidFill>
            <a:srgbClr val="545557"/>
          </a:solidFill>
          <a:ln/>
        </p:spPr>
      </p:sp>
      <p:sp>
        <p:nvSpPr>
          <p:cNvPr id="15" name="Text 12"/>
          <p:cNvSpPr/>
          <p:nvPr/>
        </p:nvSpPr>
        <p:spPr>
          <a:xfrm>
            <a:off x="4066877" y="36880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066877" y="399454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Questions &amp; Answers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2026-06-24T08:17:18Z</dcterms:created>
  <dcterms:modified xsi:type="dcterms:W3CDTF">2026-06-24T08:17:18Z</dcterms:modified>
</cp:coreProperties>
</file>